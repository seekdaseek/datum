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datum proves a lending book covers its debt at realisable exit prices, without publishing a single position. Deployed and attested on Midnight Preprod. The verdict on chain right now is covered: false, and that is the honest answer for the book it attested.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solvency number in DeFi is computed at the oracle mark. That holds until the book is large relative to the venue that would absorb it. This book reads 120 percent collateralised and is under water the moment anyone tries to realise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reserves is the closest existing thing and it answers a different question. It proves custody, not liquidity.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earlier version let the prover supply the haircut parameters privately. That was wrong and it changed. Depth is public data. Putting it behind the veil made the verdict rest on numbers nobody could audit, which is the exact failure the project exists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scaled integer arithmetic, 136 bit accumulators, sized deliberately against a compiler maximum of 248 bits. The sizing rationale is a comment block above the declarations in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drop the headline screenshot from docs/screenshots/1-headline-comparison.png onto this slide, replacing the right hand card. The card stands alone if you would rather keep it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binding property demonstrated rather than asserted. The same book commits to the same digest wherever it lands, and any change to the book 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test is the product: a book solvent at oracle marks and insolvent at realisable prices must return not covered. It asserts both arithmetic facts before asserting the verdict, so it cannot pass vacuously.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measured on this machine, not inferred. The indexer also exposes transaction identifiers on RegularTransaction rather than the Transaction interface, so the obvious query fails until you add an inline fragment.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limit before a judge finds it is the point. The haircut parameters and the venue state are published precisely so the assumptions can be argued with. The proof makes the arithmetic non negotiable and moves the argument to where it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220"/>
        </a:solidFill>
      </p:bgPr>
    </p:bg>
    <p:spTree>
      <p:nvGrpSpPr>
        <p:cNvPr id="1" name=""/>
        <p:cNvGrpSpPr/>
        <p:nvPr/>
      </p:nvGrpSpPr>
      <p:grpSpPr>
        <a:xfrm>
          <a:off x="0" y="0"/>
          <a:ext cx="0" cy="0"/>
          <a:chOff x="0" y="0"/>
          <a:chExt cx="0" cy="0"/>
        </a:xfrm>
      </p:grpSpPr>
      <p:sp>
        <p:nvSpPr>
          <p:cNvPr id="2" name="Shape 0"/>
          <p:cNvSpPr/>
          <p:nvPr/>
        </p:nvSpPr>
        <p:spPr>
          <a:xfrm>
            <a:off x="640080" y="1234440"/>
            <a:ext cx="2286000" cy="384048"/>
          </a:xfrm>
          <a:prstGeom prst="roundRect">
            <a:avLst>
              <a:gd name="adj" fmla="val 47619"/>
            </a:avLst>
          </a:prstGeom>
          <a:solidFill>
            <a:srgbClr val="E4573D"/>
          </a:solidFill>
          <a:ln w="12700">
            <a:solidFill>
              <a:srgbClr val="E4573D"/>
            </a:solidFill>
            <a:prstDash val="solid"/>
          </a:ln>
        </p:spPr>
      </p:sp>
      <p:sp>
        <p:nvSpPr>
          <p:cNvPr id="3" name="Text 1"/>
          <p:cNvSpPr txBox="1"/>
          <p:nvPr/>
        </p:nvSpPr>
        <p:spPr>
          <a:xfrm>
            <a:off x="640080" y="1234440"/>
            <a:ext cx="2286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covered: false</a:t>
            </a:r>
            <a:endParaRPr lang="en-US" sz="1300" dirty="0"/>
          </a:p>
        </p:txBody>
      </p:sp>
      <p:sp>
        <p:nvSpPr>
          <p:cNvPr id="4" name="Text 2"/>
          <p:cNvSpPr txBox="1"/>
          <p:nvPr/>
        </p:nvSpPr>
        <p:spPr>
          <a:xfrm>
            <a:off x="640080" y="1828800"/>
            <a:ext cx="10881360" cy="1371600"/>
          </a:xfrm>
          <a:prstGeom prst="rect">
            <a:avLst/>
          </a:prstGeom>
          <a:noFill/>
          <a:ln/>
        </p:spPr>
        <p:txBody>
          <a:bodyPr wrap="square" lIns="0" tIns="0" rIns="0" bIns="0" rtlCol="0" anchor="ctr"/>
          <a:lstStyle/>
          <a:p>
            <a:pPr indent="0" marL="0">
              <a:buNone/>
            </a:pPr>
            <a:r>
              <a:rPr lang="en-US" sz="8800" b="1" dirty="0">
                <a:solidFill>
                  <a:srgbClr val="EEF2FA"/>
                </a:solidFill>
                <a:latin typeface="Arial" pitchFamily="34" charset="0"/>
                <a:ea typeface="Arial" pitchFamily="34" charset="-122"/>
                <a:cs typeface="Arial" pitchFamily="34" charset="-120"/>
              </a:rPr>
              <a:t>datum</a:t>
            </a:r>
            <a:endParaRPr lang="en-US" sz="8800" dirty="0"/>
          </a:p>
        </p:txBody>
      </p:sp>
      <p:sp>
        <p:nvSpPr>
          <p:cNvPr id="5" name="Text 3"/>
          <p:cNvSpPr txBox="1"/>
          <p:nvPr/>
        </p:nvSpPr>
        <p:spPr>
          <a:xfrm>
            <a:off x="658368" y="3200400"/>
            <a:ext cx="8778240" cy="914400"/>
          </a:xfrm>
          <a:prstGeom prst="rect">
            <a:avLst/>
          </a:prstGeom>
          <a:noFill/>
          <a:ln/>
        </p:spPr>
        <p:txBody>
          <a:bodyPr wrap="square" lIns="0" tIns="0" rIns="0" bIns="0" rtlCol="0" anchor="ctr"/>
          <a:lstStyle/>
          <a:p>
            <a:pPr indent="0" marL="0">
              <a:lnSpc>
                <a:spcPts val="2800"/>
              </a:lnSpc>
              <a:buNone/>
            </a:pPr>
            <a:r>
              <a:rPr lang="en-US" sz="2000" dirty="0">
                <a:solidFill>
                  <a:srgbClr val="8C9AB5"/>
                </a:solidFill>
                <a:latin typeface="Calibri" pitchFamily="34" charset="0"/>
                <a:ea typeface="Calibri" pitchFamily="34" charset="-122"/>
                <a:cs typeface="Calibri" pitchFamily="34" charset="-120"/>
              </a:rPr>
              <a:t>Proves a lending book covers its debt at prices it could actually get,</a:t>
            </a:r>
            <a:endParaRPr lang="en-US" sz="2000" dirty="0"/>
          </a:p>
          <a:p>
            <a:pPr indent="0" marL="0">
              <a:lnSpc>
                <a:spcPts val="2800"/>
              </a:lnSpc>
              <a:buNone/>
            </a:pPr>
            <a:r>
              <a:rPr lang="en-US" sz="2000" dirty="0">
                <a:solidFill>
                  <a:srgbClr val="8C9AB5"/>
                </a:solidFill>
                <a:latin typeface="Calibri" pitchFamily="34" charset="0"/>
                <a:ea typeface="Calibri" pitchFamily="34" charset="-122"/>
                <a:cs typeface="Calibri" pitchFamily="34" charset="-120"/>
              </a:rPr>
              <a:t>without publishing a single position.</a:t>
            </a:r>
            <a:endParaRPr lang="en-US" sz="2000" dirty="0"/>
          </a:p>
        </p:txBody>
      </p:sp>
      <p:sp>
        <p:nvSpPr>
          <p:cNvPr id="6" name="Shape 4"/>
          <p:cNvSpPr/>
          <p:nvPr/>
        </p:nvSpPr>
        <p:spPr>
          <a:xfrm>
            <a:off x="640080" y="4892040"/>
            <a:ext cx="10881360" cy="0"/>
          </a:xfrm>
          <a:prstGeom prst="line">
            <a:avLst/>
          </a:prstGeom>
          <a:noFill/>
          <a:ln w="12700">
            <a:solidFill>
              <a:srgbClr val="2A3550"/>
            </a:solidFill>
            <a:prstDash val="solid"/>
          </a:ln>
        </p:spPr>
      </p:sp>
      <p:sp>
        <p:nvSpPr>
          <p:cNvPr id="7" name="Text 5"/>
          <p:cNvSpPr txBox="1"/>
          <p:nvPr/>
        </p:nvSpPr>
        <p:spPr>
          <a:xfrm>
            <a:off x="640080" y="5120640"/>
            <a:ext cx="3474720" cy="228600"/>
          </a:xfrm>
          <a:prstGeom prst="rect">
            <a:avLst/>
          </a:prstGeom>
          <a:noFill/>
          <a:ln/>
        </p:spPr>
        <p:txBody>
          <a:bodyPr wrap="square" lIns="0" tIns="0" rIns="0" bIns="0" rtlCol="0" anchor="ctr"/>
          <a:lstStyle/>
          <a:p>
            <a:pPr indent="0" marL="0">
              <a:buNone/>
            </a:pPr>
            <a:r>
              <a:rPr lang="en-US" sz="1000" b="1" spc="150" kern="0" dirty="0">
                <a:solidFill>
                  <a:srgbClr val="7FA8E8"/>
                </a:solidFill>
                <a:latin typeface="Calibri" pitchFamily="34" charset="0"/>
                <a:ea typeface="Calibri" pitchFamily="34" charset="-122"/>
                <a:cs typeface="Calibri" pitchFamily="34" charset="-120"/>
              </a:rPr>
              <a:t>LIVE</a:t>
            </a:r>
            <a:endParaRPr lang="en-US" sz="1000" dirty="0"/>
          </a:p>
        </p:txBody>
      </p:sp>
      <p:sp>
        <p:nvSpPr>
          <p:cNvPr id="8" name="Text 6"/>
          <p:cNvSpPr txBox="1"/>
          <p:nvPr/>
        </p:nvSpPr>
        <p:spPr>
          <a:xfrm>
            <a:off x="640080" y="5349240"/>
            <a:ext cx="3474720" cy="274320"/>
          </a:xfrm>
          <a:prstGeom prst="rect">
            <a:avLst/>
          </a:prstGeom>
          <a:noFill/>
          <a:ln/>
        </p:spPr>
        <p:txBody>
          <a:bodyPr wrap="square" lIns="0" tIns="0" rIns="0" bIns="0" rtlCol="0" anchor="ctr"/>
          <a:lstStyle/>
          <a:p>
            <a:pPr indent="0" marL="0">
              <a:buNone/>
            </a:pPr>
            <a:r>
              <a:rPr lang="en-US" sz="1200" dirty="0">
                <a:solidFill>
                  <a:srgbClr val="EEF2FA"/>
                </a:solidFill>
                <a:latin typeface="Courier New" pitchFamily="34" charset="0"/>
                <a:ea typeface="Courier New" pitchFamily="34" charset="-122"/>
                <a:cs typeface="Courier New" pitchFamily="34" charset="-120"/>
              </a:rPr>
              <a:t>datum.ochinimus.app</a:t>
            </a:r>
            <a:endParaRPr lang="en-US" sz="1200" dirty="0"/>
          </a:p>
        </p:txBody>
      </p:sp>
      <p:sp>
        <p:nvSpPr>
          <p:cNvPr id="9" name="Text 7"/>
          <p:cNvSpPr txBox="1"/>
          <p:nvPr/>
        </p:nvSpPr>
        <p:spPr>
          <a:xfrm>
            <a:off x="4297680" y="5120640"/>
            <a:ext cx="3474720" cy="228600"/>
          </a:xfrm>
          <a:prstGeom prst="rect">
            <a:avLst/>
          </a:prstGeom>
          <a:noFill/>
          <a:ln/>
        </p:spPr>
        <p:txBody>
          <a:bodyPr wrap="square" lIns="0" tIns="0" rIns="0" bIns="0" rtlCol="0" anchor="ctr"/>
          <a:lstStyle/>
          <a:p>
            <a:pPr indent="0" marL="0">
              <a:buNone/>
            </a:pPr>
            <a:r>
              <a:rPr lang="en-US" sz="1000" b="1" spc="150" kern="0" dirty="0">
                <a:solidFill>
                  <a:srgbClr val="7FA8E8"/>
                </a:solidFill>
                <a:latin typeface="Calibri" pitchFamily="34" charset="0"/>
                <a:ea typeface="Calibri" pitchFamily="34" charset="-122"/>
                <a:cs typeface="Calibri" pitchFamily="34" charset="-120"/>
              </a:rPr>
              <a:t>NETWORK</a:t>
            </a:r>
            <a:endParaRPr lang="en-US" sz="1000" dirty="0"/>
          </a:p>
        </p:txBody>
      </p:sp>
      <p:sp>
        <p:nvSpPr>
          <p:cNvPr id="10" name="Text 8"/>
          <p:cNvSpPr txBox="1"/>
          <p:nvPr/>
        </p:nvSpPr>
        <p:spPr>
          <a:xfrm>
            <a:off x="4297680" y="5349240"/>
            <a:ext cx="3474720" cy="274320"/>
          </a:xfrm>
          <a:prstGeom prst="rect">
            <a:avLst/>
          </a:prstGeom>
          <a:noFill/>
          <a:ln/>
        </p:spPr>
        <p:txBody>
          <a:bodyPr wrap="square" lIns="0" tIns="0" rIns="0" bIns="0" rtlCol="0" anchor="ctr"/>
          <a:lstStyle/>
          <a:p>
            <a:pPr indent="0" marL="0">
              <a:buNone/>
            </a:pPr>
            <a:r>
              <a:rPr lang="en-US" sz="1200" dirty="0">
                <a:solidFill>
                  <a:srgbClr val="EEF2FA"/>
                </a:solidFill>
                <a:latin typeface="Courier New" pitchFamily="34" charset="0"/>
                <a:ea typeface="Courier New" pitchFamily="34" charset="-122"/>
                <a:cs typeface="Courier New" pitchFamily="34" charset="-120"/>
              </a:rPr>
              <a:t>Midnight Preprod</a:t>
            </a:r>
            <a:endParaRPr lang="en-US" sz="1200" dirty="0"/>
          </a:p>
        </p:txBody>
      </p:sp>
      <p:sp>
        <p:nvSpPr>
          <p:cNvPr id="11" name="Text 9"/>
          <p:cNvSpPr txBox="1"/>
          <p:nvPr/>
        </p:nvSpPr>
        <p:spPr>
          <a:xfrm>
            <a:off x="7955280" y="5120640"/>
            <a:ext cx="3474720" cy="228600"/>
          </a:xfrm>
          <a:prstGeom prst="rect">
            <a:avLst/>
          </a:prstGeom>
          <a:noFill/>
          <a:ln/>
        </p:spPr>
        <p:txBody>
          <a:bodyPr wrap="square" lIns="0" tIns="0" rIns="0" bIns="0" rtlCol="0" anchor="ctr"/>
          <a:lstStyle/>
          <a:p>
            <a:pPr indent="0" marL="0">
              <a:buNone/>
            </a:pPr>
            <a:r>
              <a:rPr lang="en-US" sz="1000" b="1" spc="150" kern="0" dirty="0">
                <a:solidFill>
                  <a:srgbClr val="7FA8E8"/>
                </a:solidFill>
                <a:latin typeface="Calibri" pitchFamily="34" charset="0"/>
                <a:ea typeface="Calibri" pitchFamily="34" charset="-122"/>
                <a:cs typeface="Calibri" pitchFamily="34" charset="-120"/>
              </a:rPr>
              <a:t>REPO</a:t>
            </a:r>
            <a:endParaRPr lang="en-US" sz="1000" dirty="0"/>
          </a:p>
        </p:txBody>
      </p:sp>
      <p:sp>
        <p:nvSpPr>
          <p:cNvPr id="12" name="Text 10"/>
          <p:cNvSpPr txBox="1"/>
          <p:nvPr/>
        </p:nvSpPr>
        <p:spPr>
          <a:xfrm>
            <a:off x="7955280" y="5349240"/>
            <a:ext cx="3474720" cy="274320"/>
          </a:xfrm>
          <a:prstGeom prst="rect">
            <a:avLst/>
          </a:prstGeom>
          <a:noFill/>
          <a:ln/>
        </p:spPr>
        <p:txBody>
          <a:bodyPr wrap="square" lIns="0" tIns="0" rIns="0" bIns="0" rtlCol="0" anchor="ctr"/>
          <a:lstStyle/>
          <a:p>
            <a:pPr indent="0" marL="0">
              <a:buNone/>
            </a:pPr>
            <a:r>
              <a:rPr lang="en-US" sz="1200" dirty="0">
                <a:solidFill>
                  <a:srgbClr val="EEF2FA"/>
                </a:solidFill>
                <a:latin typeface="Courier New" pitchFamily="34" charset="0"/>
                <a:ea typeface="Courier New" pitchFamily="34" charset="-122"/>
                <a:cs typeface="Courier New" pitchFamily="34" charset="-120"/>
              </a:rPr>
              <a:t>github.com/seekdaseek/datum</a:t>
            </a:r>
            <a:endParaRPr lang="en-US" sz="1200" dirty="0"/>
          </a:p>
        </p:txBody>
      </p:sp>
      <p:sp>
        <p:nvSpPr>
          <p:cNvPr id="13" name="Text 11"/>
          <p:cNvSpPr txBox="1"/>
          <p:nvPr/>
        </p:nvSpPr>
        <p:spPr>
          <a:xfrm>
            <a:off x="640080" y="6035040"/>
            <a:ext cx="10881360" cy="274320"/>
          </a:xfrm>
          <a:prstGeom prst="rect">
            <a:avLst/>
          </a:prstGeom>
          <a:noFill/>
          <a:ln/>
        </p:spPr>
        <p:txBody>
          <a:bodyPr wrap="square" lIns="0" tIns="0" rIns="0" bIns="0" rtlCol="0" anchor="ctr"/>
          <a:lstStyle/>
          <a:p>
            <a:pPr indent="0" marL="0">
              <a:buNone/>
            </a:pPr>
            <a:r>
              <a:rPr lang="en-US" sz="1100" dirty="0">
                <a:solidFill>
                  <a:srgbClr val="5B6987"/>
                </a:solidFill>
                <a:latin typeface="Calibri" pitchFamily="34" charset="0"/>
                <a:ea typeface="Calibri" pitchFamily="34" charset="-122"/>
                <a:cs typeface="Calibri" pitchFamily="34" charset="-120"/>
              </a:rPr>
              <a:t>Midnight Buildathon · Wave 1 · ochinimus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The number everyone quotes is the wrong number</a:t>
            </a:r>
            <a:endParaRPr lang="en-US" sz="3400" dirty="0"/>
          </a:p>
        </p:txBody>
      </p:sp>
      <p:sp>
        <p:nvSpPr>
          <p:cNvPr id="4" name="Shape 2"/>
          <p:cNvSpPr/>
          <p:nvPr/>
        </p:nvSpPr>
        <p:spPr>
          <a:xfrm>
            <a:off x="1371600" y="2560320"/>
            <a:ext cx="2103120" cy="2880360"/>
          </a:xfrm>
          <a:prstGeom prst="roundRect">
            <a:avLst>
              <a:gd name="adj" fmla="val 2174"/>
            </a:avLst>
          </a:prstGeom>
          <a:solidFill>
            <a:srgbClr val="7FA8E8"/>
          </a:solidFill>
          <a:ln w="12700">
            <a:solidFill>
              <a:srgbClr val="7FA8E8"/>
            </a:solidFill>
            <a:prstDash val="solid"/>
          </a:ln>
        </p:spPr>
      </p:sp>
      <p:sp>
        <p:nvSpPr>
          <p:cNvPr id="5" name="Text 3"/>
          <p:cNvSpPr txBox="1"/>
          <p:nvPr/>
        </p:nvSpPr>
        <p:spPr>
          <a:xfrm>
            <a:off x="1371600" y="2724912"/>
            <a:ext cx="2103120" cy="411480"/>
          </a:xfrm>
          <a:prstGeom prst="rect">
            <a:avLst/>
          </a:prstGeom>
          <a:noFill/>
          <a:ln/>
        </p:spPr>
        <p:txBody>
          <a:bodyPr wrap="square" lIns="0" tIns="0" rIns="0" bIns="0" rtlCol="0" anchor="ctr"/>
          <a:lstStyle/>
          <a:p>
            <a:pPr algn="ctr" indent="0" marL="0">
              <a:buNone/>
            </a:pPr>
            <a:r>
              <a:rPr lang="en-US" sz="2200" b="1" dirty="0">
                <a:solidFill>
                  <a:srgbClr val="0D1220"/>
                </a:solidFill>
                <a:latin typeface="Arial" pitchFamily="34" charset="0"/>
                <a:ea typeface="Arial" pitchFamily="34" charset="-122"/>
                <a:cs typeface="Arial" pitchFamily="34" charset="-120"/>
              </a:rPr>
              <a:t>25.00m</a:t>
            </a:r>
            <a:endParaRPr lang="en-US" sz="2200" dirty="0"/>
          </a:p>
        </p:txBody>
      </p:sp>
      <p:sp>
        <p:nvSpPr>
          <p:cNvPr id="6" name="Text 4"/>
          <p:cNvSpPr txBox="1"/>
          <p:nvPr/>
        </p:nvSpPr>
        <p:spPr>
          <a:xfrm>
            <a:off x="1097280" y="5550408"/>
            <a:ext cx="2651760" cy="274320"/>
          </a:xfrm>
          <a:prstGeom prst="rect">
            <a:avLst/>
          </a:prstGeom>
          <a:noFill/>
          <a:ln/>
        </p:spPr>
        <p:txBody>
          <a:bodyPr wrap="square" lIns="0" tIns="0" rIns="0" bIns="0" rtlCol="0" anchor="ctr"/>
          <a:lstStyle/>
          <a:p>
            <a:pPr algn="ctr" indent="0" marL="0">
              <a:buNone/>
            </a:pPr>
            <a:r>
              <a:rPr lang="en-US" sz="1100" b="1" spc="100" kern="0" dirty="0">
                <a:solidFill>
                  <a:srgbClr val="8C9AB5"/>
                </a:solidFill>
                <a:latin typeface="Calibri" pitchFamily="34" charset="0"/>
                <a:ea typeface="Calibri" pitchFamily="34" charset="-122"/>
                <a:cs typeface="Calibri" pitchFamily="34" charset="-120"/>
              </a:rPr>
              <a:t>AT ORACLE MARKS</a:t>
            </a:r>
            <a:endParaRPr lang="en-US" sz="1100" dirty="0"/>
          </a:p>
        </p:txBody>
      </p:sp>
      <p:sp>
        <p:nvSpPr>
          <p:cNvPr id="7" name="Text 5"/>
          <p:cNvSpPr txBox="1"/>
          <p:nvPr/>
        </p:nvSpPr>
        <p:spPr>
          <a:xfrm>
            <a:off x="1097280" y="5824728"/>
            <a:ext cx="2651760" cy="274320"/>
          </a:xfrm>
          <a:prstGeom prst="rect">
            <a:avLst/>
          </a:prstGeom>
          <a:noFill/>
          <a:ln/>
        </p:spPr>
        <p:txBody>
          <a:bodyPr wrap="square" lIns="0" tIns="0" rIns="0" bIns="0" rtlCol="0" anchor="ctr"/>
          <a:lstStyle/>
          <a:p>
            <a:pPr algn="ctr" indent="0" marL="0">
              <a:buNone/>
            </a:pPr>
            <a:r>
              <a:rPr lang="en-US" sz="1300" dirty="0">
                <a:solidFill>
                  <a:srgbClr val="7FA8E8"/>
                </a:solidFill>
                <a:latin typeface="Calibri" pitchFamily="34" charset="0"/>
                <a:ea typeface="Calibri" pitchFamily="34" charset="-122"/>
                <a:cs typeface="Calibri" pitchFamily="34" charset="-120"/>
              </a:rPr>
              <a:t>clears 120%</a:t>
            </a:r>
            <a:endParaRPr lang="en-US" sz="1300" dirty="0"/>
          </a:p>
        </p:txBody>
      </p:sp>
      <p:sp>
        <p:nvSpPr>
          <p:cNvPr id="8" name="Shape 6"/>
          <p:cNvSpPr/>
          <p:nvPr/>
        </p:nvSpPr>
        <p:spPr>
          <a:xfrm>
            <a:off x="4206240" y="3520056"/>
            <a:ext cx="2103120" cy="1920624"/>
          </a:xfrm>
          <a:prstGeom prst="roundRect">
            <a:avLst>
              <a:gd name="adj" fmla="val 2380"/>
            </a:avLst>
          </a:prstGeom>
          <a:solidFill>
            <a:srgbClr val="E4573D"/>
          </a:solidFill>
          <a:ln w="12700">
            <a:solidFill>
              <a:srgbClr val="E4573D"/>
            </a:solidFill>
            <a:prstDash val="solid"/>
          </a:ln>
        </p:spPr>
      </p:sp>
      <p:sp>
        <p:nvSpPr>
          <p:cNvPr id="9" name="Text 7"/>
          <p:cNvSpPr txBox="1"/>
          <p:nvPr/>
        </p:nvSpPr>
        <p:spPr>
          <a:xfrm>
            <a:off x="4206240" y="3684648"/>
            <a:ext cx="21031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16.67m</a:t>
            </a:r>
            <a:endParaRPr lang="en-US" sz="2200" dirty="0"/>
          </a:p>
        </p:txBody>
      </p:sp>
      <p:sp>
        <p:nvSpPr>
          <p:cNvPr id="10" name="Text 8"/>
          <p:cNvSpPr txBox="1"/>
          <p:nvPr/>
        </p:nvSpPr>
        <p:spPr>
          <a:xfrm>
            <a:off x="3931920" y="5550408"/>
            <a:ext cx="2651760" cy="274320"/>
          </a:xfrm>
          <a:prstGeom prst="rect">
            <a:avLst/>
          </a:prstGeom>
          <a:noFill/>
          <a:ln/>
        </p:spPr>
        <p:txBody>
          <a:bodyPr wrap="square" lIns="0" tIns="0" rIns="0" bIns="0" rtlCol="0" anchor="ctr"/>
          <a:lstStyle/>
          <a:p>
            <a:pPr algn="ctr" indent="0" marL="0">
              <a:buNone/>
            </a:pPr>
            <a:r>
              <a:rPr lang="en-US" sz="1100" b="1" spc="100" kern="0" dirty="0">
                <a:solidFill>
                  <a:srgbClr val="8C9AB5"/>
                </a:solidFill>
                <a:latin typeface="Calibri" pitchFamily="34" charset="0"/>
                <a:ea typeface="Calibri" pitchFamily="34" charset="-122"/>
                <a:cs typeface="Calibri" pitchFamily="34" charset="-120"/>
              </a:rPr>
              <a:t>REALISABLE</a:t>
            </a:r>
            <a:endParaRPr lang="en-US" sz="1100" dirty="0"/>
          </a:p>
        </p:txBody>
      </p:sp>
      <p:sp>
        <p:nvSpPr>
          <p:cNvPr id="11" name="Text 9"/>
          <p:cNvSpPr txBox="1"/>
          <p:nvPr/>
        </p:nvSpPr>
        <p:spPr>
          <a:xfrm>
            <a:off x="3931920" y="5824728"/>
            <a:ext cx="2651760" cy="274320"/>
          </a:xfrm>
          <a:prstGeom prst="rect">
            <a:avLst/>
          </a:prstGeom>
          <a:noFill/>
          <a:ln/>
        </p:spPr>
        <p:txBody>
          <a:bodyPr wrap="square" lIns="0" tIns="0" rIns="0" bIns="0" rtlCol="0" anchor="ctr"/>
          <a:lstStyle/>
          <a:p>
            <a:pPr algn="ctr" indent="0" marL="0">
              <a:buNone/>
            </a:pPr>
            <a:r>
              <a:rPr lang="en-US" sz="1300" dirty="0">
                <a:solidFill>
                  <a:srgbClr val="E4573D"/>
                </a:solidFill>
                <a:latin typeface="Calibri" pitchFamily="34" charset="0"/>
                <a:ea typeface="Calibri" pitchFamily="34" charset="-122"/>
                <a:cs typeface="Calibri" pitchFamily="34" charset="-120"/>
              </a:rPr>
              <a:t>does not clear</a:t>
            </a:r>
            <a:endParaRPr lang="en-US" sz="1300" dirty="0"/>
          </a:p>
        </p:txBody>
      </p:sp>
      <p:sp>
        <p:nvSpPr>
          <p:cNvPr id="12" name="Shape 10"/>
          <p:cNvSpPr/>
          <p:nvPr/>
        </p:nvSpPr>
        <p:spPr>
          <a:xfrm>
            <a:off x="1051560" y="3136392"/>
            <a:ext cx="5623560" cy="0"/>
          </a:xfrm>
          <a:prstGeom prst="line">
            <a:avLst/>
          </a:prstGeom>
          <a:noFill/>
          <a:ln w="22225">
            <a:solidFill>
              <a:srgbClr val="E0A44C"/>
            </a:solidFill>
            <a:prstDash val="dash"/>
          </a:ln>
        </p:spPr>
      </p:sp>
      <p:sp>
        <p:nvSpPr>
          <p:cNvPr id="13" name="Text 11"/>
          <p:cNvSpPr txBox="1"/>
          <p:nvPr/>
        </p:nvSpPr>
        <p:spPr>
          <a:xfrm>
            <a:off x="6720840" y="2980944"/>
            <a:ext cx="1737360" cy="310896"/>
          </a:xfrm>
          <a:prstGeom prst="rect">
            <a:avLst/>
          </a:prstGeom>
          <a:noFill/>
          <a:ln/>
        </p:spPr>
        <p:txBody>
          <a:bodyPr wrap="square" lIns="0" tIns="0" rIns="0" bIns="0" rtlCol="0" anchor="ctr"/>
          <a:lstStyle/>
          <a:p>
            <a:pPr indent="0" marL="0">
              <a:buNone/>
            </a:pPr>
            <a:r>
              <a:rPr lang="en-US" sz="1300" b="1" dirty="0">
                <a:solidFill>
                  <a:srgbClr val="E0A44C"/>
                </a:solidFill>
                <a:latin typeface="Calibri" pitchFamily="34" charset="0"/>
                <a:ea typeface="Calibri" pitchFamily="34" charset="-122"/>
                <a:cs typeface="Calibri" pitchFamily="34" charset="-120"/>
              </a:rPr>
              <a:t>20.00m debt</a:t>
            </a:r>
            <a:endParaRPr lang="en-US" sz="1300" dirty="0"/>
          </a:p>
        </p:txBody>
      </p:sp>
      <p:sp>
        <p:nvSpPr>
          <p:cNvPr id="14" name="Shape 12"/>
          <p:cNvSpPr/>
          <p:nvPr/>
        </p:nvSpPr>
        <p:spPr>
          <a:xfrm>
            <a:off x="8229600" y="1828800"/>
            <a:ext cx="3291840" cy="3611880"/>
          </a:xfrm>
          <a:prstGeom prst="roundRect">
            <a:avLst>
              <a:gd name="adj" fmla="val 2500"/>
            </a:avLst>
          </a:prstGeom>
          <a:solidFill>
            <a:srgbClr val="182033"/>
          </a:solidFill>
          <a:ln w="12700">
            <a:solidFill>
              <a:srgbClr val="182033"/>
            </a:solidFill>
            <a:prstDash val="solid"/>
          </a:ln>
        </p:spPr>
      </p:sp>
      <p:sp>
        <p:nvSpPr>
          <p:cNvPr id="15" name="Text 13"/>
          <p:cNvSpPr txBox="1"/>
          <p:nvPr/>
        </p:nvSpPr>
        <p:spPr>
          <a:xfrm>
            <a:off x="8503920" y="2057400"/>
            <a:ext cx="2743200" cy="868680"/>
          </a:xfrm>
          <a:prstGeom prst="rect">
            <a:avLst/>
          </a:prstGeom>
          <a:noFill/>
          <a:ln/>
        </p:spPr>
        <p:txBody>
          <a:bodyPr wrap="square" lIns="0" tIns="0" rIns="0" bIns="0" rtlCol="0" anchor="ctr"/>
          <a:lstStyle/>
          <a:p>
            <a:pPr indent="0" marL="0">
              <a:buNone/>
            </a:pPr>
            <a:r>
              <a:rPr lang="en-US" sz="5200" b="1" dirty="0">
                <a:solidFill>
                  <a:srgbClr val="E4573D"/>
                </a:solidFill>
                <a:latin typeface="Arial" pitchFamily="34" charset="0"/>
                <a:ea typeface="Arial" pitchFamily="34" charset="-122"/>
                <a:cs typeface="Arial" pitchFamily="34" charset="-120"/>
              </a:rPr>
              <a:t>33.3%</a:t>
            </a:r>
            <a:endParaRPr lang="en-US" sz="5200" dirty="0"/>
          </a:p>
        </p:txBody>
      </p:sp>
      <p:sp>
        <p:nvSpPr>
          <p:cNvPr id="16" name="Text 14"/>
          <p:cNvSpPr txBox="1"/>
          <p:nvPr/>
        </p:nvSpPr>
        <p:spPr>
          <a:xfrm>
            <a:off x="8503920" y="2880360"/>
            <a:ext cx="2743200" cy="320040"/>
          </a:xfrm>
          <a:prstGeom prst="rect">
            <a:avLst/>
          </a:prstGeom>
          <a:noFill/>
          <a:ln/>
        </p:spPr>
        <p:txBody>
          <a:bodyPr wrap="square" lIns="0" tIns="0" rIns="0" bIns="0" rtlCol="0" anchor="ctr"/>
          <a:lstStyle/>
          <a:p>
            <a:pPr indent="0" marL="0">
              <a:buNone/>
            </a:pPr>
            <a:r>
              <a:rPr lang="en-US" sz="1500" dirty="0">
                <a:solidFill>
                  <a:srgbClr val="8C9AB5"/>
                </a:solidFill>
                <a:latin typeface="Calibri" pitchFamily="34" charset="0"/>
                <a:ea typeface="Calibri" pitchFamily="34" charset="-122"/>
                <a:cs typeface="Calibri" pitchFamily="34" charset="-120"/>
              </a:rPr>
              <a:t>overstatement</a:t>
            </a:r>
            <a:endParaRPr lang="en-US" sz="1500" dirty="0"/>
          </a:p>
        </p:txBody>
      </p:sp>
      <p:sp>
        <p:nvSpPr>
          <p:cNvPr id="17" name="Text 15"/>
          <p:cNvSpPr txBox="1"/>
          <p:nvPr/>
        </p:nvSpPr>
        <p:spPr>
          <a:xfrm>
            <a:off x="8503920" y="3383280"/>
            <a:ext cx="2743200" cy="1828800"/>
          </a:xfrm>
          <a:prstGeom prst="rect">
            <a:avLst/>
          </a:prstGeom>
          <a:noFill/>
          <a:ln/>
        </p:spPr>
        <p:txBody>
          <a:bodyPr wrap="square" lIns="0" tIns="0" rIns="0" bIns="0" rtlCol="0" anchor="ctr"/>
          <a:lstStyle/>
          <a:p>
            <a:pPr indent="0" marL="0">
              <a:lnSpc>
                <a:spcPts val="1800"/>
              </a:lnSpc>
              <a:buNone/>
            </a:pPr>
            <a:r>
              <a:rPr lang="en-US" sz="1300" dirty="0">
                <a:solidFill>
                  <a:srgbClr val="EEF2FA"/>
                </a:solidFill>
                <a:latin typeface="Calibri" pitchFamily="34" charset="0"/>
                <a:ea typeface="Calibri" pitchFamily="34" charset="-122"/>
                <a:cs typeface="Calibri" pitchFamily="34" charset="-120"/>
              </a:rPr>
              <a:t>Selling into a constant product pool moves the price against you. Half this book sold into its own venue realises a third less than the mark says it is worth.</a:t>
            </a:r>
            <a:endParaRPr lang="en-US" sz="1300" dirty="0"/>
          </a:p>
          <a:p>
            <a:pPr indent="0" marL="0">
              <a:lnSpc>
                <a:spcPts val="1800"/>
              </a:lnSpc>
              <a:buNone/>
            </a:pPr>
            <a:endParaRPr lang="en-US" sz="1300" dirty="0"/>
          </a:p>
          <a:p>
            <a:pPr indent="0" marL="0">
              <a:lnSpc>
                <a:spcPts val="1800"/>
              </a:lnSpc>
              <a:buNone/>
            </a:pPr>
            <a:r>
              <a:rPr lang="en-US" sz="1300" dirty="0">
                <a:solidFill>
                  <a:srgbClr val="EEF2FA"/>
                </a:solidFill>
                <a:latin typeface="Calibri" pitchFamily="34" charset="0"/>
                <a:ea typeface="Calibri" pitchFamily="34" charset="-122"/>
                <a:cs typeface="Calibri" pitchFamily="34" charset="-120"/>
              </a:rPr>
              <a:t>The pool is not insolvent on paper. It is insolvent on the way out.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WHY IT STAYS BROKEN</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The honest number requires publishing the book</a:t>
            </a:r>
            <a:endParaRPr lang="en-US" sz="3400" dirty="0"/>
          </a:p>
        </p:txBody>
      </p:sp>
      <p:sp>
        <p:nvSpPr>
          <p:cNvPr id="4" name="Shape 2"/>
          <p:cNvSpPr/>
          <p:nvPr/>
        </p:nvSpPr>
        <p:spPr>
          <a:xfrm>
            <a:off x="640080" y="1691640"/>
            <a:ext cx="3429000" cy="3200400"/>
          </a:xfrm>
          <a:prstGeom prst="roundRect">
            <a:avLst>
              <a:gd name="adj" fmla="val 2571"/>
            </a:avLst>
          </a:prstGeom>
          <a:solidFill>
            <a:srgbClr val="182033"/>
          </a:solidFill>
          <a:ln w="12700">
            <a:solidFill>
              <a:srgbClr val="182033"/>
            </a:solidFill>
            <a:prstDash val="solid"/>
          </a:ln>
        </p:spPr>
      </p:sp>
      <p:sp>
        <p:nvSpPr>
          <p:cNvPr id="5" name="Shape 3"/>
          <p:cNvSpPr/>
          <p:nvPr/>
        </p:nvSpPr>
        <p:spPr>
          <a:xfrm>
            <a:off x="932688" y="1965960"/>
            <a:ext cx="457200" cy="457200"/>
          </a:xfrm>
          <a:prstGeom prst="ellipse">
            <a:avLst/>
          </a:prstGeom>
          <a:solidFill>
            <a:srgbClr val="7FA8E8"/>
          </a:solidFill>
          <a:ln w="12700">
            <a:solidFill>
              <a:srgbClr val="7FA8E8"/>
            </a:solidFill>
            <a:prstDash val="solid"/>
          </a:ln>
        </p:spPr>
      </p:sp>
      <p:sp>
        <p:nvSpPr>
          <p:cNvPr id="6" name="Text 4"/>
          <p:cNvSpPr txBox="1"/>
          <p:nvPr/>
        </p:nvSpPr>
        <p:spPr>
          <a:xfrm>
            <a:off x="932688" y="1965960"/>
            <a:ext cx="457200" cy="457200"/>
          </a:xfrm>
          <a:prstGeom prst="rect">
            <a:avLst/>
          </a:prstGeom>
          <a:noFill/>
          <a:ln/>
        </p:spPr>
        <p:txBody>
          <a:bodyPr wrap="square" lIns="0" tIns="0" rIns="0" bIns="0" rtlCol="0" anchor="ctr"/>
          <a:lstStyle/>
          <a:p>
            <a:pPr algn="ctr" indent="0" marL="0">
              <a:buNone/>
            </a:pPr>
            <a:r>
              <a:rPr lang="en-US" sz="1600" b="1" dirty="0">
                <a:solidFill>
                  <a:srgbClr val="0D1220"/>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932688" y="2578608"/>
            <a:ext cx="2834640" cy="365760"/>
          </a:xfrm>
          <a:prstGeom prst="rect">
            <a:avLst/>
          </a:prstGeom>
          <a:noFill/>
          <a:ln/>
        </p:spPr>
        <p:txBody>
          <a:bodyPr wrap="square" lIns="0" tIns="0" rIns="0" bIns="0" rtlCol="0" anchor="ctr"/>
          <a:lstStyle/>
          <a:p>
            <a:pPr indent="0" marL="0">
              <a:buNone/>
            </a:pPr>
            <a:r>
              <a:rPr lang="en-US" sz="1700" b="1" dirty="0">
                <a:solidFill>
                  <a:srgbClr val="EEF2FA"/>
                </a:solidFill>
                <a:latin typeface="Arial" pitchFamily="34" charset="0"/>
                <a:ea typeface="Arial" pitchFamily="34" charset="-122"/>
                <a:cs typeface="Arial" pitchFamily="34" charset="-120"/>
              </a:rPr>
              <a:t>Compute it honestly</a:t>
            </a:r>
            <a:endParaRPr lang="en-US" sz="1700" dirty="0"/>
          </a:p>
        </p:txBody>
      </p:sp>
      <p:sp>
        <p:nvSpPr>
          <p:cNvPr id="8" name="Text 6"/>
          <p:cNvSpPr txBox="1"/>
          <p:nvPr/>
        </p:nvSpPr>
        <p:spPr>
          <a:xfrm>
            <a:off x="932688" y="3017520"/>
            <a:ext cx="2834640" cy="1645920"/>
          </a:xfrm>
          <a:prstGeom prst="rect">
            <a:avLst/>
          </a:prstGeom>
          <a:noFill/>
          <a:ln/>
        </p:spPr>
        <p:txBody>
          <a:bodyPr wrap="square" lIns="0" tIns="0" rIns="0" bIns="0" rtlCol="0" anchor="ctr"/>
          <a:lstStyle/>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Take the venue reserves, take the size you would have to sell, compute the proceeds. The arithmetic is not the hard part.</a:t>
            </a:r>
            <a:endParaRPr lang="en-US" sz="1300" dirty="0"/>
          </a:p>
        </p:txBody>
      </p:sp>
      <p:sp>
        <p:nvSpPr>
          <p:cNvPr id="9" name="Shape 7"/>
          <p:cNvSpPr/>
          <p:nvPr/>
        </p:nvSpPr>
        <p:spPr>
          <a:xfrm>
            <a:off x="4343400" y="1691640"/>
            <a:ext cx="3429000" cy="3200400"/>
          </a:xfrm>
          <a:prstGeom prst="roundRect">
            <a:avLst>
              <a:gd name="adj" fmla="val 2571"/>
            </a:avLst>
          </a:prstGeom>
          <a:solidFill>
            <a:srgbClr val="182033"/>
          </a:solidFill>
          <a:ln w="12700">
            <a:solidFill>
              <a:srgbClr val="182033"/>
            </a:solidFill>
            <a:prstDash val="solid"/>
          </a:ln>
        </p:spPr>
      </p:sp>
      <p:sp>
        <p:nvSpPr>
          <p:cNvPr id="10" name="Shape 8"/>
          <p:cNvSpPr/>
          <p:nvPr/>
        </p:nvSpPr>
        <p:spPr>
          <a:xfrm>
            <a:off x="4636008" y="1965960"/>
            <a:ext cx="457200" cy="457200"/>
          </a:xfrm>
          <a:prstGeom prst="ellipse">
            <a:avLst/>
          </a:prstGeom>
          <a:solidFill>
            <a:srgbClr val="E0A44C"/>
          </a:solidFill>
          <a:ln w="12700">
            <a:solidFill>
              <a:srgbClr val="E0A44C"/>
            </a:solidFill>
            <a:prstDash val="solid"/>
          </a:ln>
        </p:spPr>
      </p:sp>
      <p:sp>
        <p:nvSpPr>
          <p:cNvPr id="11" name="Text 9"/>
          <p:cNvSpPr txBox="1"/>
          <p:nvPr/>
        </p:nvSpPr>
        <p:spPr>
          <a:xfrm>
            <a:off x="4636008" y="1965960"/>
            <a:ext cx="457200" cy="457200"/>
          </a:xfrm>
          <a:prstGeom prst="rect">
            <a:avLst/>
          </a:prstGeom>
          <a:noFill/>
          <a:ln/>
        </p:spPr>
        <p:txBody>
          <a:bodyPr wrap="square" lIns="0" tIns="0" rIns="0" bIns="0" rtlCol="0" anchor="ctr"/>
          <a:lstStyle/>
          <a:p>
            <a:pPr algn="ctr" indent="0" marL="0">
              <a:buNone/>
            </a:pPr>
            <a:r>
              <a:rPr lang="en-US" sz="1600" b="1" dirty="0">
                <a:solidFill>
                  <a:srgbClr val="0D1220"/>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4636008" y="2578608"/>
            <a:ext cx="2834640" cy="365760"/>
          </a:xfrm>
          <a:prstGeom prst="rect">
            <a:avLst/>
          </a:prstGeom>
          <a:noFill/>
          <a:ln/>
        </p:spPr>
        <p:txBody>
          <a:bodyPr wrap="square" lIns="0" tIns="0" rIns="0" bIns="0" rtlCol="0" anchor="ctr"/>
          <a:lstStyle/>
          <a:p>
            <a:pPr indent="0" marL="0">
              <a:buNone/>
            </a:pPr>
            <a:r>
              <a:rPr lang="en-US" sz="1700" b="1" dirty="0">
                <a:solidFill>
                  <a:srgbClr val="EEF2FA"/>
                </a:solidFill>
                <a:latin typeface="Arial" pitchFamily="34" charset="0"/>
                <a:ea typeface="Arial" pitchFamily="34" charset="-122"/>
                <a:cs typeface="Arial" pitchFamily="34" charset="-120"/>
              </a:rPr>
              <a:t>Prove you did it</a:t>
            </a:r>
            <a:endParaRPr lang="en-US" sz="1700" dirty="0"/>
          </a:p>
        </p:txBody>
      </p:sp>
      <p:sp>
        <p:nvSpPr>
          <p:cNvPr id="13" name="Text 11"/>
          <p:cNvSpPr txBox="1"/>
          <p:nvPr/>
        </p:nvSpPr>
        <p:spPr>
          <a:xfrm>
            <a:off x="4636008" y="3017520"/>
            <a:ext cx="2834640" cy="1645920"/>
          </a:xfrm>
          <a:prstGeom prst="rect">
            <a:avLst/>
          </a:prstGeom>
          <a:noFill/>
          <a:ln/>
        </p:spPr>
        <p:txBody>
          <a:bodyPr wrap="square" lIns="0" tIns="0" rIns="0" bIns="0" rtlCol="0" anchor="ctr"/>
          <a:lstStyle/>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To prove the arithmetic, you have to show the inputs. The inputs are your positions and your debt.</a:t>
            </a:r>
            <a:endParaRPr lang="en-US" sz="1300" dirty="0"/>
          </a:p>
        </p:txBody>
      </p:sp>
      <p:sp>
        <p:nvSpPr>
          <p:cNvPr id="14" name="Shape 12"/>
          <p:cNvSpPr/>
          <p:nvPr/>
        </p:nvSpPr>
        <p:spPr>
          <a:xfrm>
            <a:off x="8046720" y="1691640"/>
            <a:ext cx="3429000" cy="3200400"/>
          </a:xfrm>
          <a:prstGeom prst="roundRect">
            <a:avLst>
              <a:gd name="adj" fmla="val 2571"/>
            </a:avLst>
          </a:prstGeom>
          <a:solidFill>
            <a:srgbClr val="182033"/>
          </a:solidFill>
          <a:ln w="12700">
            <a:solidFill>
              <a:srgbClr val="182033"/>
            </a:solidFill>
            <a:prstDash val="solid"/>
          </a:ln>
        </p:spPr>
      </p:sp>
      <p:sp>
        <p:nvSpPr>
          <p:cNvPr id="15" name="Shape 13"/>
          <p:cNvSpPr/>
          <p:nvPr/>
        </p:nvSpPr>
        <p:spPr>
          <a:xfrm>
            <a:off x="8339328" y="1965960"/>
            <a:ext cx="457200" cy="457200"/>
          </a:xfrm>
          <a:prstGeom prst="ellipse">
            <a:avLst/>
          </a:prstGeom>
          <a:solidFill>
            <a:srgbClr val="E4573D"/>
          </a:solidFill>
          <a:ln w="12700">
            <a:solidFill>
              <a:srgbClr val="E4573D"/>
            </a:solidFill>
            <a:prstDash val="solid"/>
          </a:ln>
        </p:spPr>
      </p:sp>
      <p:sp>
        <p:nvSpPr>
          <p:cNvPr id="16" name="Text 14"/>
          <p:cNvSpPr txBox="1"/>
          <p:nvPr/>
        </p:nvSpPr>
        <p:spPr>
          <a:xfrm>
            <a:off x="8339328" y="1965960"/>
            <a:ext cx="457200" cy="457200"/>
          </a:xfrm>
          <a:prstGeom prst="rect">
            <a:avLst/>
          </a:prstGeom>
          <a:noFill/>
          <a:ln/>
        </p:spPr>
        <p:txBody>
          <a:bodyPr wrap="square" lIns="0" tIns="0" rIns="0" bIns="0" rtlCol="0" anchor="ctr"/>
          <a:lstStyle/>
          <a:p>
            <a:pPr algn="ctr" indent="0" marL="0">
              <a:buNone/>
            </a:pPr>
            <a:r>
              <a:rPr lang="en-US" sz="1600" b="1" dirty="0">
                <a:solidFill>
                  <a:srgbClr val="0D1220"/>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8339328" y="2578608"/>
            <a:ext cx="2834640" cy="365760"/>
          </a:xfrm>
          <a:prstGeom prst="rect">
            <a:avLst/>
          </a:prstGeom>
          <a:noFill/>
          <a:ln/>
        </p:spPr>
        <p:txBody>
          <a:bodyPr wrap="square" lIns="0" tIns="0" rIns="0" bIns="0" rtlCol="0" anchor="ctr"/>
          <a:lstStyle/>
          <a:p>
            <a:pPr indent="0" marL="0">
              <a:buNone/>
            </a:pPr>
            <a:r>
              <a:rPr lang="en-US" sz="1700" b="1" dirty="0">
                <a:solidFill>
                  <a:srgbClr val="EEF2FA"/>
                </a:solidFill>
                <a:latin typeface="Arial" pitchFamily="34" charset="0"/>
                <a:ea typeface="Arial" pitchFamily="34" charset="-122"/>
                <a:cs typeface="Arial" pitchFamily="34" charset="-120"/>
              </a:rPr>
              <a:t>Dead end</a:t>
            </a:r>
            <a:endParaRPr lang="en-US" sz="1700" dirty="0"/>
          </a:p>
        </p:txBody>
      </p:sp>
      <p:sp>
        <p:nvSpPr>
          <p:cNvPr id="18" name="Text 16"/>
          <p:cNvSpPr txBox="1"/>
          <p:nvPr/>
        </p:nvSpPr>
        <p:spPr>
          <a:xfrm>
            <a:off x="8339328" y="3017520"/>
            <a:ext cx="2834640" cy="1645920"/>
          </a:xfrm>
          <a:prstGeom prst="rect">
            <a:avLst/>
          </a:prstGeom>
          <a:noFill/>
          <a:ln/>
        </p:spPr>
        <p:txBody>
          <a:bodyPr wrap="square" lIns="0" tIns="0" rIns="0" bIns="0" rtlCol="0" anchor="ctr"/>
          <a:lstStyle/>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The positions are the business. No lender, fund or desk publishes them. So everyone asserts a ratio and you either trust them or you do not.</a:t>
            </a:r>
            <a:endParaRPr lang="en-US" sz="1300" dirty="0"/>
          </a:p>
        </p:txBody>
      </p:sp>
      <p:sp>
        <p:nvSpPr>
          <p:cNvPr id="19" name="Text 17"/>
          <p:cNvSpPr txBox="1"/>
          <p:nvPr/>
        </p:nvSpPr>
        <p:spPr>
          <a:xfrm>
            <a:off x="640080" y="5257800"/>
            <a:ext cx="10881360" cy="365760"/>
          </a:xfrm>
          <a:prstGeom prst="rect">
            <a:avLst/>
          </a:prstGeom>
          <a:noFill/>
          <a:ln/>
        </p:spPr>
        <p:txBody>
          <a:bodyPr wrap="square" lIns="0" tIns="0" rIns="0" bIns="0" rtlCol="0" anchor="ctr"/>
          <a:lstStyle/>
          <a:p>
            <a:pPr indent="0" marL="0">
              <a:buNone/>
            </a:pPr>
            <a:r>
              <a:rPr lang="en-US" sz="1500" i="1" dirty="0">
                <a:solidFill>
                  <a:srgbClr val="7FA8E8"/>
                </a:solidFill>
                <a:latin typeface="Calibri" pitchFamily="34" charset="0"/>
                <a:ea typeface="Calibri" pitchFamily="34" charset="-122"/>
                <a:cs typeface="Calibri" pitchFamily="34" charset="-120"/>
              </a:rPr>
              <a:t>Proof of reserves does not close this. It proves you hold the assets, not that you could sell them.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THE DESIGN</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Public inputs. Private book. One verdict.</a:t>
            </a:r>
            <a:endParaRPr lang="en-US" sz="3400" dirty="0"/>
          </a:p>
        </p:txBody>
      </p:sp>
      <p:sp>
        <p:nvSpPr>
          <p:cNvPr id="4" name="Shape 2"/>
          <p:cNvSpPr/>
          <p:nvPr/>
        </p:nvSpPr>
        <p:spPr>
          <a:xfrm>
            <a:off x="640080" y="1691640"/>
            <a:ext cx="5212080" cy="3017520"/>
          </a:xfrm>
          <a:prstGeom prst="roundRect">
            <a:avLst>
              <a:gd name="adj" fmla="val 2727"/>
            </a:avLst>
          </a:prstGeom>
          <a:solidFill>
            <a:srgbClr val="182033"/>
          </a:solidFill>
          <a:ln w="12700">
            <a:solidFill>
              <a:srgbClr val="182033"/>
            </a:solidFill>
            <a:prstDash val="solid"/>
          </a:ln>
        </p:spPr>
      </p:sp>
      <p:sp>
        <p:nvSpPr>
          <p:cNvPr id="5" name="Text 3"/>
          <p:cNvSpPr txBox="1"/>
          <p:nvPr/>
        </p:nvSpPr>
        <p:spPr>
          <a:xfrm>
            <a:off x="914400" y="1920240"/>
            <a:ext cx="4663440" cy="292608"/>
          </a:xfrm>
          <a:prstGeom prst="rect">
            <a:avLst/>
          </a:prstGeom>
          <a:noFill/>
          <a:ln/>
        </p:spPr>
        <p:txBody>
          <a:bodyPr wrap="square" lIns="0" tIns="0" rIns="0" bIns="0" rtlCol="0" anchor="ctr"/>
          <a:lstStyle/>
          <a:p>
            <a:pPr indent="0" marL="0">
              <a:buNone/>
            </a:pPr>
            <a:r>
              <a:rPr lang="en-US" sz="1200" b="1" spc="150" kern="0" dirty="0">
                <a:solidFill>
                  <a:srgbClr val="2FB98D"/>
                </a:solidFill>
                <a:latin typeface="Calibri" pitchFamily="34" charset="0"/>
                <a:ea typeface="Calibri" pitchFamily="34" charset="-122"/>
                <a:cs typeface="Calibri" pitchFamily="34" charset="-120"/>
              </a:rPr>
              <a:t>PUBLIC INPUTS</a:t>
            </a:r>
            <a:endParaRPr lang="en-US" sz="1200" dirty="0"/>
          </a:p>
        </p:txBody>
      </p:sp>
      <p:sp>
        <p:nvSpPr>
          <p:cNvPr id="6" name="Text 4"/>
          <p:cNvSpPr txBox="1"/>
          <p:nvPr/>
        </p:nvSpPr>
        <p:spPr>
          <a:xfrm>
            <a:off x="914400" y="2212848"/>
            <a:ext cx="4663440" cy="365760"/>
          </a:xfrm>
          <a:prstGeom prst="rect">
            <a:avLst/>
          </a:prstGeom>
          <a:noFill/>
          <a:ln/>
        </p:spPr>
        <p:txBody>
          <a:bodyPr wrap="square" lIns="0" tIns="0" rIns="0" bIns="0" rtlCol="0" anchor="ctr"/>
          <a:lstStyle/>
          <a:p>
            <a:pPr indent="0" marL="0">
              <a:buNone/>
            </a:pPr>
            <a:r>
              <a:rPr lang="en-US" sz="1200" dirty="0">
                <a:solidFill>
                  <a:srgbClr val="8C9AB5"/>
                </a:solidFill>
                <a:latin typeface="Calibri" pitchFamily="34" charset="0"/>
                <a:ea typeface="Calibri" pitchFamily="34" charset="-122"/>
                <a:cs typeface="Calibri" pitchFamily="34" charset="-120"/>
              </a:rPr>
              <a:t>On the ledger. Anyone can pull that block and recompute them.</a:t>
            </a:r>
            <a:endParaRPr lang="en-US" sz="1200" dirty="0"/>
          </a:p>
        </p:txBody>
      </p:sp>
      <p:sp>
        <p:nvSpPr>
          <p:cNvPr id="7" name="Text 5"/>
          <p:cNvSpPr txBox="1"/>
          <p:nvPr/>
        </p:nvSpPr>
        <p:spPr>
          <a:xfrm>
            <a:off x="914400" y="2697480"/>
            <a:ext cx="466344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EF2FA"/>
                </a:solidFill>
                <a:latin typeface="Calibri" pitchFamily="34" charset="0"/>
                <a:ea typeface="Calibri" pitchFamily="34" charset="-122"/>
                <a:cs typeface="Calibri" pitchFamily="34" charset="-120"/>
              </a:rPr>
              <a:t>Venue reserves</a:t>
            </a:r>
            <a:endParaRPr lang="en-US" sz="1500" dirty="0"/>
          </a:p>
          <a:p>
            <a:pPr marL="342900" indent="-342900">
              <a:spcAft>
                <a:spcPts val="800"/>
              </a:spcAft>
              <a:buSzPct val="100000"/>
              <a:buChar char="•"/>
            </a:pPr>
            <a:r>
              <a:rPr lang="en-US" sz="1500" dirty="0">
                <a:solidFill>
                  <a:srgbClr val="EEF2FA"/>
                </a:solidFill>
                <a:latin typeface="Calibri" pitchFamily="34" charset="0"/>
                <a:ea typeface="Calibri" pitchFamily="34" charset="-122"/>
                <a:cs typeface="Calibri" pitchFamily="34" charset="-120"/>
              </a:rPr>
              <a:t>Venue identifiers</a:t>
            </a:r>
            <a:endParaRPr lang="en-US" sz="1500" dirty="0"/>
          </a:p>
          <a:p>
            <a:pPr marL="342900" indent="-342900">
              <a:spcAft>
                <a:spcPts val="800"/>
              </a:spcAft>
              <a:buSzPct val="100000"/>
              <a:buChar char="•"/>
            </a:pPr>
            <a:r>
              <a:rPr lang="en-US" sz="1500" dirty="0">
                <a:solidFill>
                  <a:srgbClr val="EEF2FA"/>
                </a:solidFill>
                <a:latin typeface="Calibri" pitchFamily="34" charset="0"/>
                <a:ea typeface="Calibri" pitchFamily="34" charset="-122"/>
                <a:cs typeface="Calibri" pitchFamily="34" charset="-120"/>
              </a:rPr>
              <a:t>Block heights</a:t>
            </a:r>
            <a:endParaRPr lang="en-US" sz="1500" dirty="0"/>
          </a:p>
          <a:p>
            <a:pPr marL="342900" indent="-342900">
              <a:spcAft>
                <a:spcPts val="800"/>
              </a:spcAft>
              <a:buSzPct val="100000"/>
              <a:buChar char="•"/>
            </a:pPr>
            <a:r>
              <a:rPr lang="en-US" sz="1500" dirty="0">
                <a:solidFill>
                  <a:srgbClr val="EEF2FA"/>
                </a:solidFill>
                <a:latin typeface="Calibri" pitchFamily="34" charset="0"/>
                <a:ea typeface="Calibri" pitchFamily="34" charset="-122"/>
                <a:cs typeface="Calibri" pitchFamily="34" charset="-120"/>
              </a:rPr>
              <a:t>Required collateral ratio</a:t>
            </a:r>
            <a:endParaRPr lang="en-US" sz="1500" dirty="0"/>
          </a:p>
        </p:txBody>
      </p:sp>
      <p:sp>
        <p:nvSpPr>
          <p:cNvPr id="8" name="Shape 6"/>
          <p:cNvSpPr/>
          <p:nvPr/>
        </p:nvSpPr>
        <p:spPr>
          <a:xfrm>
            <a:off x="6309360" y="1691640"/>
            <a:ext cx="5212080" cy="3017520"/>
          </a:xfrm>
          <a:prstGeom prst="roundRect">
            <a:avLst>
              <a:gd name="adj" fmla="val 2727"/>
            </a:avLst>
          </a:prstGeom>
          <a:solidFill>
            <a:srgbClr val="141B2B"/>
          </a:solidFill>
          <a:ln w="12700">
            <a:solidFill>
              <a:srgbClr val="141B2B"/>
            </a:solidFill>
            <a:prstDash val="solid"/>
          </a:ln>
        </p:spPr>
      </p:sp>
      <p:sp>
        <p:nvSpPr>
          <p:cNvPr id="9" name="Text 7"/>
          <p:cNvSpPr txBox="1"/>
          <p:nvPr/>
        </p:nvSpPr>
        <p:spPr>
          <a:xfrm>
            <a:off x="6583680" y="1920240"/>
            <a:ext cx="4663440" cy="292608"/>
          </a:xfrm>
          <a:prstGeom prst="rect">
            <a:avLst/>
          </a:prstGeom>
          <a:noFill/>
          <a:ln/>
        </p:spPr>
        <p:txBody>
          <a:bodyPr wrap="square" lIns="0" tIns="0" rIns="0" bIns="0" rtlCol="0" anchor="ctr"/>
          <a:lstStyle/>
          <a:p>
            <a:pPr indent="0" marL="0">
              <a:buNone/>
            </a:pPr>
            <a:r>
              <a:rPr lang="en-US" sz="1200" b="1" spc="150" kern="0" dirty="0">
                <a:solidFill>
                  <a:srgbClr val="E4573D"/>
                </a:solidFill>
                <a:latin typeface="Calibri" pitchFamily="34" charset="0"/>
                <a:ea typeface="Calibri" pitchFamily="34" charset="-122"/>
                <a:cs typeface="Calibri" pitchFamily="34" charset="-120"/>
              </a:rPr>
              <a:t>PRIVATE WITNESS</a:t>
            </a:r>
            <a:endParaRPr lang="en-US" sz="1200" dirty="0"/>
          </a:p>
        </p:txBody>
      </p:sp>
      <p:sp>
        <p:nvSpPr>
          <p:cNvPr id="10" name="Text 8"/>
          <p:cNvSpPr txBox="1"/>
          <p:nvPr/>
        </p:nvSpPr>
        <p:spPr>
          <a:xfrm>
            <a:off x="6583680" y="2212848"/>
            <a:ext cx="4663440" cy="365760"/>
          </a:xfrm>
          <a:prstGeom prst="rect">
            <a:avLst/>
          </a:prstGeom>
          <a:noFill/>
          <a:ln/>
        </p:spPr>
        <p:txBody>
          <a:bodyPr wrap="square" lIns="0" tIns="0" rIns="0" bIns="0" rtlCol="0" anchor="ctr"/>
          <a:lstStyle/>
          <a:p>
            <a:pPr indent="0" marL="0">
              <a:buNone/>
            </a:pPr>
            <a:r>
              <a:rPr lang="en-US" sz="1200" dirty="0">
                <a:solidFill>
                  <a:srgbClr val="8C9AB5"/>
                </a:solidFill>
                <a:latin typeface="Calibri" pitchFamily="34" charset="0"/>
                <a:ea typeface="Calibri" pitchFamily="34" charset="-122"/>
                <a:cs typeface="Calibri" pitchFamily="34" charset="-120"/>
              </a:rPr>
              <a:t>Never leaves the prover. Absent from the ledger and from the page.</a:t>
            </a:r>
            <a:endParaRPr lang="en-US" sz="1200" dirty="0"/>
          </a:p>
        </p:txBody>
      </p:sp>
      <p:sp>
        <p:nvSpPr>
          <p:cNvPr id="11" name="Text 9"/>
          <p:cNvSpPr txBox="1"/>
          <p:nvPr/>
        </p:nvSpPr>
        <p:spPr>
          <a:xfrm>
            <a:off x="6583680" y="2697480"/>
            <a:ext cx="466344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EF2FA"/>
                </a:solidFill>
                <a:latin typeface="Calibri" pitchFamily="34" charset="0"/>
                <a:ea typeface="Calibri" pitchFamily="34" charset="-122"/>
                <a:cs typeface="Calibri" pitchFamily="34" charset="-120"/>
              </a:rPr>
              <a:t>Position sizes</a:t>
            </a:r>
            <a:endParaRPr lang="en-US" sz="1500" dirty="0"/>
          </a:p>
          <a:p>
            <a:pPr marL="342900" indent="-342900">
              <a:spcAft>
                <a:spcPts val="800"/>
              </a:spcAft>
              <a:buSzPct val="100000"/>
              <a:buChar char="•"/>
            </a:pPr>
            <a:r>
              <a:rPr lang="en-US" sz="1500" dirty="0">
                <a:solidFill>
                  <a:srgbClr val="EEF2FA"/>
                </a:solidFill>
                <a:latin typeface="Calibri" pitchFamily="34" charset="0"/>
                <a:ea typeface="Calibri" pitchFamily="34" charset="-122"/>
                <a:cs typeface="Calibri" pitchFamily="34" charset="-120"/>
              </a:rPr>
              <a:t>Debt</a:t>
            </a:r>
            <a:endParaRPr lang="en-US" sz="1500" dirty="0"/>
          </a:p>
          <a:p>
            <a:pPr marL="342900" indent="-342900">
              <a:spcAft>
                <a:spcPts val="800"/>
              </a:spcAft>
              <a:buSzPct val="100000"/>
              <a:buChar char="•"/>
            </a:pPr>
            <a:r>
              <a:rPr lang="en-US" sz="1500" dirty="0">
                <a:solidFill>
                  <a:srgbClr val="EEF2FA"/>
                </a:solidFill>
                <a:latin typeface="Calibri" pitchFamily="34" charset="0"/>
                <a:ea typeface="Calibri" pitchFamily="34" charset="-122"/>
                <a:cs typeface="Calibri" pitchFamily="34" charset="-120"/>
              </a:rPr>
              <a:t>Claimed proceeds bounds</a:t>
            </a:r>
            <a:endParaRPr lang="en-US" sz="1500" dirty="0"/>
          </a:p>
        </p:txBody>
      </p:sp>
      <p:sp>
        <p:nvSpPr>
          <p:cNvPr id="12" name="Shape 10"/>
          <p:cNvSpPr/>
          <p:nvPr/>
        </p:nvSpPr>
        <p:spPr>
          <a:xfrm>
            <a:off x="640080" y="4937760"/>
            <a:ext cx="10881360" cy="1234440"/>
          </a:xfrm>
          <a:prstGeom prst="roundRect">
            <a:avLst>
              <a:gd name="adj" fmla="val 6667"/>
            </a:avLst>
          </a:prstGeom>
          <a:solidFill>
            <a:srgbClr val="1E2740"/>
          </a:solidFill>
          <a:ln w="12700">
            <a:solidFill>
              <a:srgbClr val="1E2740"/>
            </a:solidFill>
            <a:prstDash val="solid"/>
          </a:ln>
        </p:spPr>
      </p:sp>
      <p:sp>
        <p:nvSpPr>
          <p:cNvPr id="13" name="Text 11"/>
          <p:cNvSpPr txBox="1"/>
          <p:nvPr/>
        </p:nvSpPr>
        <p:spPr>
          <a:xfrm>
            <a:off x="914400" y="5120640"/>
            <a:ext cx="3657600" cy="274320"/>
          </a:xfrm>
          <a:prstGeom prst="rect">
            <a:avLst/>
          </a:prstGeom>
          <a:noFill/>
          <a:ln/>
        </p:spPr>
        <p:txBody>
          <a:bodyPr wrap="square" lIns="0" tIns="0" rIns="0" bIns="0" rtlCol="0" anchor="ctr"/>
          <a:lstStyle/>
          <a:p>
            <a:pPr indent="0" marL="0">
              <a:buNone/>
            </a:pPr>
            <a:r>
              <a:rPr lang="en-US" sz="1100" b="1" spc="150" kern="0" dirty="0">
                <a:solidFill>
                  <a:srgbClr val="7FA8E8"/>
                </a:solidFill>
                <a:latin typeface="Calibri" pitchFamily="34" charset="0"/>
                <a:ea typeface="Calibri" pitchFamily="34" charset="-122"/>
                <a:cs typeface="Calibri" pitchFamily="34" charset="-120"/>
              </a:rPr>
              <a:t>WHAT CROSSES THE LINE</a:t>
            </a:r>
            <a:endParaRPr lang="en-US" sz="1100" dirty="0"/>
          </a:p>
        </p:txBody>
      </p:sp>
      <p:sp>
        <p:nvSpPr>
          <p:cNvPr id="14" name="Text 12"/>
          <p:cNvSpPr txBox="1"/>
          <p:nvPr/>
        </p:nvSpPr>
        <p:spPr>
          <a:xfrm>
            <a:off x="914400" y="5413248"/>
            <a:ext cx="10332720" cy="457200"/>
          </a:xfrm>
          <a:prstGeom prst="rect">
            <a:avLst/>
          </a:prstGeom>
          <a:noFill/>
          <a:ln/>
        </p:spPr>
        <p:txBody>
          <a:bodyPr wrap="square" lIns="0" tIns="0" rIns="0" bIns="0" rtlCol="0" anchor="ctr"/>
          <a:lstStyle/>
          <a:p>
            <a:pPr indent="0" marL="0">
              <a:buNone/>
            </a:pPr>
            <a:r>
              <a:rPr lang="en-US" sz="1600" dirty="0">
                <a:solidFill>
                  <a:srgbClr val="EEF2FA"/>
                </a:solidFill>
                <a:latin typeface="Calibri" pitchFamily="34" charset="0"/>
                <a:ea typeface="Calibri" pitchFamily="34" charset="-122"/>
                <a:cs typeface="Calibri" pitchFamily="34" charset="-120"/>
              </a:rPr>
              <a:t>One bit, covered or not covered, plus a commitment to the book and a hash of the exact venue state used.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THE CIRCUIT</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No division. Multiply and compare.</a:t>
            </a:r>
            <a:endParaRPr lang="en-US" sz="3400" dirty="0"/>
          </a:p>
        </p:txBody>
      </p:sp>
      <p:sp>
        <p:nvSpPr>
          <p:cNvPr id="4" name="Shape 2"/>
          <p:cNvSpPr/>
          <p:nvPr/>
        </p:nvSpPr>
        <p:spPr>
          <a:xfrm>
            <a:off x="640080" y="1645920"/>
            <a:ext cx="10881360" cy="1371600"/>
          </a:xfrm>
          <a:prstGeom prst="roundRect">
            <a:avLst>
              <a:gd name="adj" fmla="val 6000"/>
            </a:avLst>
          </a:prstGeom>
          <a:solidFill>
            <a:srgbClr val="182033"/>
          </a:solidFill>
          <a:ln w="12700">
            <a:solidFill>
              <a:srgbClr val="182033"/>
            </a:solidFill>
            <a:prstDash val="solid"/>
          </a:ln>
        </p:spPr>
      </p:sp>
      <p:sp>
        <p:nvSpPr>
          <p:cNvPr id="5" name="Text 3"/>
          <p:cNvSpPr txBox="1"/>
          <p:nvPr/>
        </p:nvSpPr>
        <p:spPr>
          <a:xfrm>
            <a:off x="640080" y="1783080"/>
            <a:ext cx="10881360" cy="685800"/>
          </a:xfrm>
          <a:prstGeom prst="rect">
            <a:avLst/>
          </a:prstGeom>
          <a:noFill/>
          <a:ln/>
        </p:spPr>
        <p:txBody>
          <a:bodyPr wrap="square" lIns="0" tIns="0" rIns="0" bIns="0" rtlCol="0" anchor="ctr"/>
          <a:lstStyle/>
          <a:p>
            <a:pPr algn="ctr" indent="0" marL="0">
              <a:buNone/>
            </a:pPr>
            <a:r>
              <a:rPr lang="en-US" sz="3400" b="1" dirty="0">
                <a:solidFill>
                  <a:srgbClr val="2FB98D"/>
                </a:solidFill>
                <a:latin typeface="Courier New" pitchFamily="34" charset="0"/>
                <a:ea typeface="Courier New" pitchFamily="34" charset="-122"/>
                <a:cs typeface="Courier New" pitchFamily="34" charset="-120"/>
              </a:rPr>
              <a:t>p × (X + q)   ≤   Y × q</a:t>
            </a:r>
            <a:endParaRPr lang="en-US" sz="3400" dirty="0"/>
          </a:p>
        </p:txBody>
      </p:sp>
      <p:sp>
        <p:nvSpPr>
          <p:cNvPr id="6" name="Text 4"/>
          <p:cNvSpPr txBox="1"/>
          <p:nvPr/>
        </p:nvSpPr>
        <p:spPr>
          <a:xfrm>
            <a:off x="640080" y="2487168"/>
            <a:ext cx="10881360" cy="320040"/>
          </a:xfrm>
          <a:prstGeom prst="rect">
            <a:avLst/>
          </a:prstGeom>
          <a:noFill/>
          <a:ln/>
        </p:spPr>
        <p:txBody>
          <a:bodyPr wrap="square" lIns="0" tIns="0" rIns="0" bIns="0" rtlCol="0" anchor="ctr"/>
          <a:lstStyle/>
          <a:p>
            <a:pPr algn="ctr" indent="0" marL="0">
              <a:buNone/>
            </a:pPr>
            <a:r>
              <a:rPr lang="en-US" sz="1300" dirty="0">
                <a:solidFill>
                  <a:srgbClr val="8C9AB5"/>
                </a:solidFill>
                <a:latin typeface="Calibri" pitchFamily="34" charset="0"/>
                <a:ea typeface="Calibri" pitchFamily="34" charset="-122"/>
                <a:cs typeface="Calibri" pitchFamily="34" charset="-120"/>
              </a:rPr>
              <a:t>p = claimed proceeds lower bound (private)      X, Y = venue reserves (public)      q = size sold (private)</a:t>
            </a:r>
            <a:endParaRPr lang="en-US" sz="1300" dirty="0"/>
          </a:p>
        </p:txBody>
      </p:sp>
      <p:sp>
        <p:nvSpPr>
          <p:cNvPr id="7" name="Shape 5"/>
          <p:cNvSpPr/>
          <p:nvPr/>
        </p:nvSpPr>
        <p:spPr>
          <a:xfrm>
            <a:off x="685800" y="3401568"/>
            <a:ext cx="164592" cy="164592"/>
          </a:xfrm>
          <a:prstGeom prst="ellipse">
            <a:avLst/>
          </a:prstGeom>
          <a:solidFill>
            <a:srgbClr val="E4573D"/>
          </a:solidFill>
          <a:ln w="12700">
            <a:solidFill>
              <a:srgbClr val="E4573D"/>
            </a:solidFill>
            <a:prstDash val="solid"/>
          </a:ln>
        </p:spPr>
      </p:sp>
      <p:sp>
        <p:nvSpPr>
          <p:cNvPr id="8" name="Text 6"/>
          <p:cNvSpPr txBox="1"/>
          <p:nvPr/>
        </p:nvSpPr>
        <p:spPr>
          <a:xfrm>
            <a:off x="1051560" y="3291840"/>
            <a:ext cx="2377440" cy="365760"/>
          </a:xfrm>
          <a:prstGeom prst="rect">
            <a:avLst/>
          </a:prstGeom>
          <a:noFill/>
          <a:ln/>
        </p:spPr>
        <p:txBody>
          <a:bodyPr wrap="square" lIns="0" tIns="0" rIns="0" bIns="0" rtlCol="0" anchor="ctr"/>
          <a:lstStyle/>
          <a:p>
            <a:pPr indent="0" marL="0">
              <a:buNone/>
            </a:pPr>
            <a:r>
              <a:rPr lang="en-US" sz="1600" b="1" dirty="0">
                <a:solidFill>
                  <a:srgbClr val="E4573D"/>
                </a:solidFill>
                <a:latin typeface="Arial" pitchFamily="34" charset="0"/>
                <a:ea typeface="Arial" pitchFamily="34" charset="-122"/>
                <a:cs typeface="Arial" pitchFamily="34" charset="-120"/>
              </a:rPr>
              <a:t>Claim too high</a:t>
            </a:r>
            <a:endParaRPr lang="en-US" sz="1600" dirty="0"/>
          </a:p>
        </p:txBody>
      </p:sp>
      <p:sp>
        <p:nvSpPr>
          <p:cNvPr id="9" name="Text 7"/>
          <p:cNvSpPr txBox="1"/>
          <p:nvPr/>
        </p:nvSpPr>
        <p:spPr>
          <a:xfrm>
            <a:off x="3566160" y="3291840"/>
            <a:ext cx="7955280" cy="685800"/>
          </a:xfrm>
          <a:prstGeom prst="rect">
            <a:avLst/>
          </a:prstGeom>
          <a:noFill/>
          <a:ln/>
        </p:spPr>
        <p:txBody>
          <a:bodyPr wrap="square" lIns="0" tIns="0" rIns="0" bIns="0" rtlCol="0" anchor="ctr"/>
          <a:lstStyle/>
          <a:p>
            <a:pPr indent="0" marL="0">
              <a:lnSpc>
                <a:spcPts val="2000"/>
              </a:lnSpc>
              <a:buNone/>
            </a:pPr>
            <a:r>
              <a:rPr lang="en-US" sz="1500" dirty="0">
                <a:solidFill>
                  <a:srgbClr val="EEF2FA"/>
                </a:solidFill>
                <a:latin typeface="Calibri" pitchFamily="34" charset="0"/>
                <a:ea typeface="Calibri" pitchFamily="34" charset="-122"/>
                <a:cs typeface="Calibri" pitchFamily="34" charset="-120"/>
              </a:rPr>
              <a:t>The per-slot constraint fails. The proof does not exist.</a:t>
            </a:r>
            <a:endParaRPr lang="en-US" sz="1500" dirty="0"/>
          </a:p>
        </p:txBody>
      </p:sp>
      <p:sp>
        <p:nvSpPr>
          <p:cNvPr id="10" name="Shape 8"/>
          <p:cNvSpPr/>
          <p:nvPr/>
        </p:nvSpPr>
        <p:spPr>
          <a:xfrm>
            <a:off x="685800" y="4361688"/>
            <a:ext cx="164592" cy="164592"/>
          </a:xfrm>
          <a:prstGeom prst="ellipse">
            <a:avLst/>
          </a:prstGeom>
          <a:solidFill>
            <a:srgbClr val="2FB98D"/>
          </a:solidFill>
          <a:ln w="12700">
            <a:solidFill>
              <a:srgbClr val="2FB98D"/>
            </a:solidFill>
            <a:prstDash val="solid"/>
          </a:ln>
        </p:spPr>
      </p:sp>
      <p:sp>
        <p:nvSpPr>
          <p:cNvPr id="11" name="Text 9"/>
          <p:cNvSpPr txBox="1"/>
          <p:nvPr/>
        </p:nvSpPr>
        <p:spPr>
          <a:xfrm>
            <a:off x="1051560" y="4251960"/>
            <a:ext cx="2377440" cy="365760"/>
          </a:xfrm>
          <a:prstGeom prst="rect">
            <a:avLst/>
          </a:prstGeom>
          <a:noFill/>
          <a:ln/>
        </p:spPr>
        <p:txBody>
          <a:bodyPr wrap="square" lIns="0" tIns="0" rIns="0" bIns="0" rtlCol="0" anchor="ctr"/>
          <a:lstStyle/>
          <a:p>
            <a:pPr indent="0" marL="0">
              <a:buNone/>
            </a:pPr>
            <a:r>
              <a:rPr lang="en-US" sz="1600" b="1" dirty="0">
                <a:solidFill>
                  <a:srgbClr val="2FB98D"/>
                </a:solidFill>
                <a:latin typeface="Arial" pitchFamily="34" charset="0"/>
                <a:ea typeface="Arial" pitchFamily="34" charset="-122"/>
                <a:cs typeface="Arial" pitchFamily="34" charset="-120"/>
              </a:rPr>
              <a:t>Claim too low</a:t>
            </a:r>
            <a:endParaRPr lang="en-US" sz="1600" dirty="0"/>
          </a:p>
        </p:txBody>
      </p:sp>
      <p:sp>
        <p:nvSpPr>
          <p:cNvPr id="12" name="Text 10"/>
          <p:cNvSpPr txBox="1"/>
          <p:nvPr/>
        </p:nvSpPr>
        <p:spPr>
          <a:xfrm>
            <a:off x="3566160" y="4251960"/>
            <a:ext cx="7955280" cy="685800"/>
          </a:xfrm>
          <a:prstGeom prst="rect">
            <a:avLst/>
          </a:prstGeom>
          <a:noFill/>
          <a:ln/>
        </p:spPr>
        <p:txBody>
          <a:bodyPr wrap="square" lIns="0" tIns="0" rIns="0" bIns="0" rtlCol="0" anchor="ctr"/>
          <a:lstStyle/>
          <a:p>
            <a:pPr indent="0" marL="0">
              <a:lnSpc>
                <a:spcPts val="2000"/>
              </a:lnSpc>
              <a:buNone/>
            </a:pPr>
            <a:r>
              <a:rPr lang="en-US" sz="1500" dirty="0">
                <a:solidFill>
                  <a:srgbClr val="EEF2FA"/>
                </a:solidFill>
                <a:latin typeface="Calibri" pitchFamily="34" charset="0"/>
                <a:ea typeface="Calibri" pitchFamily="34" charset="-122"/>
                <a:cs typeface="Calibri" pitchFamily="34" charset="-120"/>
              </a:rPr>
              <a:t>It verifies, and only hurts the prover. A lower claim makes covering harder.</a:t>
            </a:r>
            <a:endParaRPr lang="en-US" sz="1500" dirty="0"/>
          </a:p>
        </p:txBody>
      </p:sp>
      <p:sp>
        <p:nvSpPr>
          <p:cNvPr id="13" name="Shape 11"/>
          <p:cNvSpPr/>
          <p:nvPr/>
        </p:nvSpPr>
        <p:spPr>
          <a:xfrm>
            <a:off x="685800" y="5321808"/>
            <a:ext cx="164592" cy="164592"/>
          </a:xfrm>
          <a:prstGeom prst="ellipse">
            <a:avLst/>
          </a:prstGeom>
          <a:solidFill>
            <a:srgbClr val="7FA8E8"/>
          </a:solidFill>
          <a:ln w="12700">
            <a:solidFill>
              <a:srgbClr val="7FA8E8"/>
            </a:solidFill>
            <a:prstDash val="solid"/>
          </a:ln>
        </p:spPr>
      </p:sp>
      <p:sp>
        <p:nvSpPr>
          <p:cNvPr id="14" name="Text 12"/>
          <p:cNvSpPr txBox="1"/>
          <p:nvPr/>
        </p:nvSpPr>
        <p:spPr>
          <a:xfrm>
            <a:off x="1051560" y="5212080"/>
            <a:ext cx="2377440" cy="365760"/>
          </a:xfrm>
          <a:prstGeom prst="rect">
            <a:avLst/>
          </a:prstGeom>
          <a:noFill/>
          <a:ln/>
        </p:spPr>
        <p:txBody>
          <a:bodyPr wrap="square" lIns="0" tIns="0" rIns="0" bIns="0" rtlCol="0" anchor="ctr"/>
          <a:lstStyle/>
          <a:p>
            <a:pPr indent="0" marL="0">
              <a:buNone/>
            </a:pPr>
            <a:r>
              <a:rPr lang="en-US" sz="1600" b="1" dirty="0">
                <a:solidFill>
                  <a:srgbClr val="7FA8E8"/>
                </a:solidFill>
                <a:latin typeface="Arial" pitchFamily="34" charset="0"/>
                <a:ea typeface="Arial" pitchFamily="34" charset="-122"/>
                <a:cs typeface="Arial" pitchFamily="34" charset="-120"/>
              </a:rPr>
              <a:t>Why it matters</a:t>
            </a:r>
            <a:endParaRPr lang="en-US" sz="1600" dirty="0"/>
          </a:p>
        </p:txBody>
      </p:sp>
      <p:sp>
        <p:nvSpPr>
          <p:cNvPr id="15" name="Text 13"/>
          <p:cNvSpPr txBox="1"/>
          <p:nvPr/>
        </p:nvSpPr>
        <p:spPr>
          <a:xfrm>
            <a:off x="3566160" y="5212080"/>
            <a:ext cx="7955280" cy="685800"/>
          </a:xfrm>
          <a:prstGeom prst="rect">
            <a:avLst/>
          </a:prstGeom>
          <a:noFill/>
          <a:ln/>
        </p:spPr>
        <p:txBody>
          <a:bodyPr wrap="square" lIns="0" tIns="0" rIns="0" bIns="0" rtlCol="0" anchor="ctr"/>
          <a:lstStyle/>
          <a:p>
            <a:pPr indent="0" marL="0">
              <a:lnSpc>
                <a:spcPts val="2000"/>
              </a:lnSpc>
              <a:buNone/>
            </a:pPr>
            <a:r>
              <a:rPr lang="en-US" sz="1500" dirty="0">
                <a:solidFill>
                  <a:srgbClr val="EEF2FA"/>
                </a:solidFill>
                <a:latin typeface="Calibri" pitchFamily="34" charset="0"/>
                <a:ea typeface="Calibri" pitchFamily="34" charset="-122"/>
                <a:cs typeface="Calibri" pitchFamily="34" charset="-120"/>
              </a:rPr>
              <a:t>Computing proceeds directly needs a division. Circuits hate division. The bound turns it into two multiplications.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IT IS DEPLOYED</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Live on Midnight Preprod. A judge can check it cold.</a:t>
            </a:r>
            <a:endParaRPr lang="en-US" sz="3400" dirty="0"/>
          </a:p>
        </p:txBody>
      </p:sp>
      <p:sp>
        <p:nvSpPr>
          <p:cNvPr id="4" name="Shape 2"/>
          <p:cNvSpPr/>
          <p:nvPr/>
        </p:nvSpPr>
        <p:spPr>
          <a:xfrm>
            <a:off x="640080" y="1691640"/>
            <a:ext cx="6675120" cy="1051560"/>
          </a:xfrm>
          <a:prstGeom prst="roundRect">
            <a:avLst>
              <a:gd name="adj" fmla="val 7826"/>
            </a:avLst>
          </a:prstGeom>
          <a:solidFill>
            <a:srgbClr val="182033"/>
          </a:solidFill>
          <a:ln w="12700">
            <a:solidFill>
              <a:srgbClr val="182033"/>
            </a:solidFill>
            <a:prstDash val="solid"/>
          </a:ln>
        </p:spPr>
      </p:sp>
      <p:sp>
        <p:nvSpPr>
          <p:cNvPr id="5" name="Text 3"/>
          <p:cNvSpPr txBox="1"/>
          <p:nvPr/>
        </p:nvSpPr>
        <p:spPr>
          <a:xfrm>
            <a:off x="914400" y="1810512"/>
            <a:ext cx="6126480" cy="237744"/>
          </a:xfrm>
          <a:prstGeom prst="rect">
            <a:avLst/>
          </a:prstGeom>
          <a:noFill/>
          <a:ln/>
        </p:spPr>
        <p:txBody>
          <a:bodyPr wrap="square" lIns="0" tIns="0" rIns="0" bIns="0" rtlCol="0" anchor="ctr"/>
          <a:lstStyle/>
          <a:p>
            <a:pPr indent="0" marL="0">
              <a:buNone/>
            </a:pPr>
            <a:r>
              <a:rPr lang="en-US" sz="1000" b="1" spc="150" kern="0" dirty="0">
                <a:solidFill>
                  <a:srgbClr val="7FA8E8"/>
                </a:solidFill>
                <a:latin typeface="Calibri" pitchFamily="34" charset="0"/>
                <a:ea typeface="Calibri" pitchFamily="34" charset="-122"/>
                <a:cs typeface="Calibri" pitchFamily="34" charset="-120"/>
              </a:rPr>
              <a:t>CONTRACT</a:t>
            </a:r>
            <a:endParaRPr lang="en-US" sz="1000" dirty="0"/>
          </a:p>
        </p:txBody>
      </p:sp>
      <p:sp>
        <p:nvSpPr>
          <p:cNvPr id="6" name="Text 4"/>
          <p:cNvSpPr txBox="1"/>
          <p:nvPr/>
        </p:nvSpPr>
        <p:spPr>
          <a:xfrm>
            <a:off x="914400" y="2057400"/>
            <a:ext cx="6126480" cy="566928"/>
          </a:xfrm>
          <a:prstGeom prst="rect">
            <a:avLst/>
          </a:prstGeom>
          <a:noFill/>
          <a:ln/>
        </p:spPr>
        <p:txBody>
          <a:bodyPr wrap="square" lIns="0" tIns="0" rIns="0" bIns="0" rtlCol="0" anchor="ctr"/>
          <a:lstStyle/>
          <a:p>
            <a:pPr indent="0" marL="0">
              <a:lnSpc>
                <a:spcPts val="1500"/>
              </a:lnSpc>
              <a:buNone/>
            </a:pPr>
            <a:r>
              <a:rPr lang="en-US" sz="1200" dirty="0">
                <a:solidFill>
                  <a:srgbClr val="EEF2FA"/>
                </a:solidFill>
                <a:latin typeface="Courier New" pitchFamily="34" charset="0"/>
                <a:ea typeface="Courier New" pitchFamily="34" charset="-122"/>
                <a:cs typeface="Courier New" pitchFamily="34" charset="-120"/>
              </a:rPr>
              <a:t>8086d2e3db45c9eb2a45b58796202d8e</a:t>
            </a:r>
            <a:endParaRPr lang="en-US" sz="1200" dirty="0"/>
          </a:p>
          <a:p>
            <a:pPr indent="0" marL="0">
              <a:lnSpc>
                <a:spcPts val="1500"/>
              </a:lnSpc>
              <a:buNone/>
            </a:pPr>
            <a:r>
              <a:rPr lang="en-US" sz="1200" dirty="0">
                <a:solidFill>
                  <a:srgbClr val="EEF2FA"/>
                </a:solidFill>
                <a:latin typeface="Courier New" pitchFamily="34" charset="0"/>
                <a:ea typeface="Courier New" pitchFamily="34" charset="-122"/>
                <a:cs typeface="Courier New" pitchFamily="34" charset="-120"/>
              </a:rPr>
              <a:t>076e04c49e03142db36a98815bb30a05</a:t>
            </a:r>
            <a:endParaRPr lang="en-US" sz="1200" dirty="0"/>
          </a:p>
        </p:txBody>
      </p:sp>
      <p:sp>
        <p:nvSpPr>
          <p:cNvPr id="7" name="Shape 5"/>
          <p:cNvSpPr/>
          <p:nvPr/>
        </p:nvSpPr>
        <p:spPr>
          <a:xfrm>
            <a:off x="640080" y="2926080"/>
            <a:ext cx="6675120" cy="1051560"/>
          </a:xfrm>
          <a:prstGeom prst="roundRect">
            <a:avLst>
              <a:gd name="adj" fmla="val 7826"/>
            </a:avLst>
          </a:prstGeom>
          <a:solidFill>
            <a:srgbClr val="182033"/>
          </a:solidFill>
          <a:ln w="12700">
            <a:solidFill>
              <a:srgbClr val="182033"/>
            </a:solidFill>
            <a:prstDash val="solid"/>
          </a:ln>
        </p:spPr>
      </p:sp>
      <p:sp>
        <p:nvSpPr>
          <p:cNvPr id="8" name="Text 6"/>
          <p:cNvSpPr txBox="1"/>
          <p:nvPr/>
        </p:nvSpPr>
        <p:spPr>
          <a:xfrm>
            <a:off x="914400" y="3044952"/>
            <a:ext cx="6126480" cy="237744"/>
          </a:xfrm>
          <a:prstGeom prst="rect">
            <a:avLst/>
          </a:prstGeom>
          <a:noFill/>
          <a:ln/>
        </p:spPr>
        <p:txBody>
          <a:bodyPr wrap="square" lIns="0" tIns="0" rIns="0" bIns="0" rtlCol="0" anchor="ctr"/>
          <a:lstStyle/>
          <a:p>
            <a:pPr indent="0" marL="0">
              <a:buNone/>
            </a:pPr>
            <a:r>
              <a:rPr lang="en-US" sz="1000" b="1" spc="150" kern="0" dirty="0">
                <a:solidFill>
                  <a:srgbClr val="7FA8E8"/>
                </a:solidFill>
                <a:latin typeface="Calibri" pitchFamily="34" charset="0"/>
                <a:ea typeface="Calibri" pitchFamily="34" charset="-122"/>
                <a:cs typeface="Calibri" pitchFamily="34" charset="-120"/>
              </a:rPr>
              <a:t>ATTEST TX</a:t>
            </a:r>
            <a:endParaRPr lang="en-US" sz="1000" dirty="0"/>
          </a:p>
        </p:txBody>
      </p:sp>
      <p:sp>
        <p:nvSpPr>
          <p:cNvPr id="9" name="Text 7"/>
          <p:cNvSpPr txBox="1"/>
          <p:nvPr/>
        </p:nvSpPr>
        <p:spPr>
          <a:xfrm>
            <a:off x="914400" y="3291840"/>
            <a:ext cx="6126480" cy="566928"/>
          </a:xfrm>
          <a:prstGeom prst="rect">
            <a:avLst/>
          </a:prstGeom>
          <a:noFill/>
          <a:ln/>
        </p:spPr>
        <p:txBody>
          <a:bodyPr wrap="square" lIns="0" tIns="0" rIns="0" bIns="0" rtlCol="0" anchor="ctr"/>
          <a:lstStyle/>
          <a:p>
            <a:pPr indent="0" marL="0">
              <a:lnSpc>
                <a:spcPts val="1500"/>
              </a:lnSpc>
              <a:buNone/>
            </a:pPr>
            <a:r>
              <a:rPr lang="en-US" sz="1200" dirty="0">
                <a:solidFill>
                  <a:srgbClr val="EEF2FA"/>
                </a:solidFill>
                <a:latin typeface="Courier New" pitchFamily="34" charset="0"/>
                <a:ea typeface="Courier New" pitchFamily="34" charset="-122"/>
                <a:cs typeface="Courier New" pitchFamily="34" charset="-120"/>
              </a:rPr>
              <a:t>b29dc307bb2c42541ffdf9e8e8836391</a:t>
            </a:r>
            <a:endParaRPr lang="en-US" sz="1200" dirty="0"/>
          </a:p>
          <a:p>
            <a:pPr indent="0" marL="0">
              <a:lnSpc>
                <a:spcPts val="1500"/>
              </a:lnSpc>
              <a:buNone/>
            </a:pPr>
            <a:r>
              <a:rPr lang="en-US" sz="1200" dirty="0">
                <a:solidFill>
                  <a:srgbClr val="EEF2FA"/>
                </a:solidFill>
                <a:latin typeface="Courier New" pitchFamily="34" charset="0"/>
                <a:ea typeface="Courier New" pitchFamily="34" charset="-122"/>
                <a:cs typeface="Courier New" pitchFamily="34" charset="-120"/>
              </a:rPr>
              <a:t>873794d411a17b4ff070a56ea8ee64c5</a:t>
            </a:r>
            <a:endParaRPr lang="en-US" sz="1200" dirty="0"/>
          </a:p>
        </p:txBody>
      </p:sp>
      <p:sp>
        <p:nvSpPr>
          <p:cNvPr id="10" name="Text 8"/>
          <p:cNvSpPr txBox="1"/>
          <p:nvPr/>
        </p:nvSpPr>
        <p:spPr>
          <a:xfrm>
            <a:off x="640080" y="4206240"/>
            <a:ext cx="1554480" cy="320040"/>
          </a:xfrm>
          <a:prstGeom prst="rect">
            <a:avLst/>
          </a:prstGeom>
          <a:noFill/>
          <a:ln/>
        </p:spPr>
        <p:txBody>
          <a:bodyPr wrap="square" lIns="0" tIns="0" rIns="0" bIns="0" rtlCol="0" anchor="ctr"/>
          <a:lstStyle/>
          <a:p>
            <a:pPr indent="0" marL="0">
              <a:buNone/>
            </a:pPr>
            <a:r>
              <a:rPr lang="en-US" sz="1100" b="1" spc="150" kern="0" dirty="0">
                <a:solidFill>
                  <a:srgbClr val="8C9AB5"/>
                </a:solidFill>
                <a:latin typeface="Calibri" pitchFamily="34" charset="0"/>
                <a:ea typeface="Calibri" pitchFamily="34" charset="-122"/>
                <a:cs typeface="Calibri" pitchFamily="34" charset="-120"/>
              </a:rPr>
              <a:t>BLOCK</a:t>
            </a:r>
            <a:endParaRPr lang="en-US" sz="1100" dirty="0"/>
          </a:p>
        </p:txBody>
      </p:sp>
      <p:sp>
        <p:nvSpPr>
          <p:cNvPr id="11" name="Text 9"/>
          <p:cNvSpPr txBox="1"/>
          <p:nvPr/>
        </p:nvSpPr>
        <p:spPr>
          <a:xfrm>
            <a:off x="2286000" y="4169664"/>
            <a:ext cx="5029200" cy="365760"/>
          </a:xfrm>
          <a:prstGeom prst="rect">
            <a:avLst/>
          </a:prstGeom>
          <a:noFill/>
          <a:ln/>
        </p:spPr>
        <p:txBody>
          <a:bodyPr wrap="square" lIns="0" tIns="0" rIns="0" bIns="0" rtlCol="0" anchor="ctr"/>
          <a:lstStyle/>
          <a:p>
            <a:pPr indent="0" marL="0">
              <a:buNone/>
            </a:pPr>
            <a:r>
              <a:rPr lang="en-US" sz="1700" b="1" dirty="0">
                <a:solidFill>
                  <a:srgbClr val="EEF2FA"/>
                </a:solidFill>
                <a:latin typeface="Courier New" pitchFamily="34" charset="0"/>
                <a:ea typeface="Courier New" pitchFamily="34" charset="-122"/>
                <a:cs typeface="Courier New" pitchFamily="34" charset="-120"/>
              </a:rPr>
              <a:t>2295258</a:t>
            </a:r>
            <a:endParaRPr lang="en-US" sz="1700" dirty="0"/>
          </a:p>
        </p:txBody>
      </p:sp>
      <p:sp>
        <p:nvSpPr>
          <p:cNvPr id="12" name="Text 10"/>
          <p:cNvSpPr txBox="1"/>
          <p:nvPr/>
        </p:nvSpPr>
        <p:spPr>
          <a:xfrm>
            <a:off x="640080" y="4864608"/>
            <a:ext cx="1554480" cy="320040"/>
          </a:xfrm>
          <a:prstGeom prst="rect">
            <a:avLst/>
          </a:prstGeom>
          <a:noFill/>
          <a:ln/>
        </p:spPr>
        <p:txBody>
          <a:bodyPr wrap="square" lIns="0" tIns="0" rIns="0" bIns="0" rtlCol="0" anchor="ctr"/>
          <a:lstStyle/>
          <a:p>
            <a:pPr indent="0" marL="0">
              <a:buNone/>
            </a:pPr>
            <a:r>
              <a:rPr lang="en-US" sz="1100" b="1" spc="150" kern="0" dirty="0">
                <a:solidFill>
                  <a:srgbClr val="8C9AB5"/>
                </a:solidFill>
                <a:latin typeface="Calibri" pitchFamily="34" charset="0"/>
                <a:ea typeface="Calibri" pitchFamily="34" charset="-122"/>
                <a:cs typeface="Calibri" pitchFamily="34" charset="-120"/>
              </a:rPr>
              <a:t>STATUS</a:t>
            </a:r>
            <a:endParaRPr lang="en-US" sz="1100" dirty="0"/>
          </a:p>
        </p:txBody>
      </p:sp>
      <p:sp>
        <p:nvSpPr>
          <p:cNvPr id="13" name="Text 11"/>
          <p:cNvSpPr txBox="1"/>
          <p:nvPr/>
        </p:nvSpPr>
        <p:spPr>
          <a:xfrm>
            <a:off x="2286000" y="4828032"/>
            <a:ext cx="5029200" cy="365760"/>
          </a:xfrm>
          <a:prstGeom prst="rect">
            <a:avLst/>
          </a:prstGeom>
          <a:noFill/>
          <a:ln/>
        </p:spPr>
        <p:txBody>
          <a:bodyPr wrap="square" lIns="0" tIns="0" rIns="0" bIns="0" rtlCol="0" anchor="ctr"/>
          <a:lstStyle/>
          <a:p>
            <a:pPr indent="0" marL="0">
              <a:buNone/>
            </a:pPr>
            <a:r>
              <a:rPr lang="en-US" sz="1700" b="1" dirty="0">
                <a:solidFill>
                  <a:srgbClr val="2FB98D"/>
                </a:solidFill>
                <a:latin typeface="Courier New" pitchFamily="34" charset="0"/>
                <a:ea typeface="Courier New" pitchFamily="34" charset="-122"/>
                <a:cs typeface="Courier New" pitchFamily="34" charset="-120"/>
              </a:rPr>
              <a:t>SucceedEntirely</a:t>
            </a:r>
            <a:endParaRPr lang="en-US" sz="1700" dirty="0"/>
          </a:p>
        </p:txBody>
      </p:sp>
      <p:sp>
        <p:nvSpPr>
          <p:cNvPr id="14" name="Text 12"/>
          <p:cNvSpPr txBox="1"/>
          <p:nvPr/>
        </p:nvSpPr>
        <p:spPr>
          <a:xfrm>
            <a:off x="640080" y="5522976"/>
            <a:ext cx="1554480" cy="320040"/>
          </a:xfrm>
          <a:prstGeom prst="rect">
            <a:avLst/>
          </a:prstGeom>
          <a:noFill/>
          <a:ln/>
        </p:spPr>
        <p:txBody>
          <a:bodyPr wrap="square" lIns="0" tIns="0" rIns="0" bIns="0" rtlCol="0" anchor="ctr"/>
          <a:lstStyle/>
          <a:p>
            <a:pPr indent="0" marL="0">
              <a:buNone/>
            </a:pPr>
            <a:r>
              <a:rPr lang="en-US" sz="1100" b="1" spc="150" kern="0" dirty="0">
                <a:solidFill>
                  <a:srgbClr val="8C9AB5"/>
                </a:solidFill>
                <a:latin typeface="Calibri" pitchFamily="34" charset="0"/>
                <a:ea typeface="Calibri" pitchFamily="34" charset="-122"/>
                <a:cs typeface="Calibri" pitchFamily="34" charset="-120"/>
              </a:rPr>
              <a:t>VERDICT</a:t>
            </a:r>
            <a:endParaRPr lang="en-US" sz="1100" dirty="0"/>
          </a:p>
        </p:txBody>
      </p:sp>
      <p:sp>
        <p:nvSpPr>
          <p:cNvPr id="15" name="Text 13"/>
          <p:cNvSpPr txBox="1"/>
          <p:nvPr/>
        </p:nvSpPr>
        <p:spPr>
          <a:xfrm>
            <a:off x="2286000" y="5486400"/>
            <a:ext cx="5029200" cy="365760"/>
          </a:xfrm>
          <a:prstGeom prst="rect">
            <a:avLst/>
          </a:prstGeom>
          <a:noFill/>
          <a:ln/>
        </p:spPr>
        <p:txBody>
          <a:bodyPr wrap="square" lIns="0" tIns="0" rIns="0" bIns="0" rtlCol="0" anchor="ctr"/>
          <a:lstStyle/>
          <a:p>
            <a:pPr indent="0" marL="0">
              <a:buNone/>
            </a:pPr>
            <a:r>
              <a:rPr lang="en-US" sz="1700" b="1" dirty="0">
                <a:solidFill>
                  <a:srgbClr val="E4573D"/>
                </a:solidFill>
                <a:latin typeface="Courier New" pitchFamily="34" charset="0"/>
                <a:ea typeface="Courier New" pitchFamily="34" charset="-122"/>
                <a:cs typeface="Courier New" pitchFamily="34" charset="-120"/>
              </a:rPr>
              <a:t>covered: false</a:t>
            </a:r>
            <a:endParaRPr lang="en-US" sz="1700" dirty="0"/>
          </a:p>
        </p:txBody>
      </p:sp>
      <p:sp>
        <p:nvSpPr>
          <p:cNvPr id="16" name="Shape 14"/>
          <p:cNvSpPr/>
          <p:nvPr/>
        </p:nvSpPr>
        <p:spPr>
          <a:xfrm>
            <a:off x="7772400" y="1691640"/>
            <a:ext cx="3749040" cy="4480560"/>
          </a:xfrm>
          <a:prstGeom prst="roundRect">
            <a:avLst>
              <a:gd name="adj" fmla="val 2195"/>
            </a:avLst>
          </a:prstGeom>
          <a:solidFill>
            <a:srgbClr val="141B2B"/>
          </a:solidFill>
          <a:ln w="12700">
            <a:solidFill>
              <a:srgbClr val="141B2B"/>
            </a:solidFill>
            <a:prstDash val="solid"/>
          </a:ln>
        </p:spPr>
      </p:sp>
      <p:sp>
        <p:nvSpPr>
          <p:cNvPr id="17" name="Text 15"/>
          <p:cNvSpPr txBox="1"/>
          <p:nvPr/>
        </p:nvSpPr>
        <p:spPr>
          <a:xfrm>
            <a:off x="8092440" y="1920240"/>
            <a:ext cx="3108960" cy="274320"/>
          </a:xfrm>
          <a:prstGeom prst="rect">
            <a:avLst/>
          </a:prstGeom>
          <a:noFill/>
          <a:ln/>
        </p:spPr>
        <p:txBody>
          <a:bodyPr wrap="square" lIns="0" tIns="0" rIns="0" bIns="0" rtlCol="0" anchor="ctr"/>
          <a:lstStyle/>
          <a:p>
            <a:pPr indent="0" marL="0">
              <a:buNone/>
            </a:pPr>
            <a:r>
              <a:rPr lang="en-US" sz="1100" b="1" spc="150" kern="0" dirty="0">
                <a:solidFill>
                  <a:srgbClr val="2FB98D"/>
                </a:solidFill>
                <a:latin typeface="Calibri" pitchFamily="34" charset="0"/>
                <a:ea typeface="Calibri" pitchFamily="34" charset="-122"/>
                <a:cs typeface="Calibri" pitchFamily="34" charset="-120"/>
              </a:rPr>
              <a:t>ZERO SETUP</a:t>
            </a:r>
            <a:endParaRPr lang="en-US" sz="1100" dirty="0"/>
          </a:p>
        </p:txBody>
      </p:sp>
      <p:sp>
        <p:nvSpPr>
          <p:cNvPr id="18" name="Text 16"/>
          <p:cNvSpPr txBox="1"/>
          <p:nvPr/>
        </p:nvSpPr>
        <p:spPr>
          <a:xfrm>
            <a:off x="8092440" y="2240280"/>
            <a:ext cx="3108960" cy="411480"/>
          </a:xfrm>
          <a:prstGeom prst="rect">
            <a:avLst/>
          </a:prstGeom>
          <a:noFill/>
          <a:ln/>
        </p:spPr>
        <p:txBody>
          <a:bodyPr wrap="square" lIns="0" tIns="0" rIns="0" bIns="0" rtlCol="0" anchor="ctr"/>
          <a:lstStyle/>
          <a:p>
            <a:pPr indent="0" marL="0">
              <a:buNone/>
            </a:pPr>
            <a:r>
              <a:rPr lang="en-US" sz="1500" b="1" dirty="0">
                <a:solidFill>
                  <a:srgbClr val="EEF2FA"/>
                </a:solidFill>
                <a:latin typeface="Courier New" pitchFamily="34" charset="0"/>
                <a:ea typeface="Courier New" pitchFamily="34" charset="-122"/>
                <a:cs typeface="Courier New" pitchFamily="34" charset="-120"/>
              </a:rPr>
              <a:t>datum.ochinimus.app</a:t>
            </a:r>
            <a:endParaRPr lang="en-US" sz="1500" dirty="0"/>
          </a:p>
        </p:txBody>
      </p:sp>
      <p:sp>
        <p:nvSpPr>
          <p:cNvPr id="19" name="Text 17"/>
          <p:cNvSpPr txBox="1"/>
          <p:nvPr/>
        </p:nvSpPr>
        <p:spPr>
          <a:xfrm>
            <a:off x="8092440" y="2834640"/>
            <a:ext cx="3108960" cy="3108960"/>
          </a:xfrm>
          <a:prstGeom prst="rect">
            <a:avLst/>
          </a:prstGeom>
          <a:noFill/>
          <a:ln/>
        </p:spPr>
        <p:txBody>
          <a:bodyPr wrap="square" lIns="0" tIns="0" rIns="0" bIns="0" rtlCol="0" anchor="ctr"/>
          <a:lstStyle/>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Open the page. Press Verify from chain. The venue hash recomputes in your own browser, from the public indexer.</a:t>
            </a:r>
            <a:endParaRPr lang="en-US" sz="1300" dirty="0"/>
          </a:p>
          <a:p>
            <a:pPr indent="0" marL="0">
              <a:lnSpc>
                <a:spcPts val="1800"/>
              </a:lnSpc>
              <a:buNone/>
            </a:pPr>
            <a:endParaRPr lang="en-US" sz="1300" dirty="0"/>
          </a:p>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No wallet. No extension. No install. No trust in me.</a:t>
            </a:r>
            <a:endParaRPr lang="en-US" sz="1300" dirty="0"/>
          </a:p>
          <a:p>
            <a:pPr indent="0" marL="0">
              <a:lnSpc>
                <a:spcPts val="1800"/>
              </a:lnSpc>
              <a:buNone/>
            </a:pPr>
            <a:endParaRPr lang="en-US" sz="1300" dirty="0"/>
          </a:p>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The front end reads the chain and nothing else. 436 kB gzipped, no key material, no proving client side.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THE BINDING PROPERTY</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One commitment. Three independent chains.</a:t>
            </a:r>
            <a:endParaRPr lang="en-US" sz="3400" dirty="0"/>
          </a:p>
        </p:txBody>
      </p:sp>
      <p:sp>
        <p:nvSpPr>
          <p:cNvPr id="4" name="Shape 2"/>
          <p:cNvSpPr/>
          <p:nvPr/>
        </p:nvSpPr>
        <p:spPr>
          <a:xfrm>
            <a:off x="640080" y="1737360"/>
            <a:ext cx="3429000" cy="1965960"/>
          </a:xfrm>
          <a:prstGeom prst="roundRect">
            <a:avLst>
              <a:gd name="adj" fmla="val 4186"/>
            </a:avLst>
          </a:prstGeom>
          <a:solidFill>
            <a:srgbClr val="182033"/>
          </a:solidFill>
          <a:ln w="12700">
            <a:solidFill>
              <a:srgbClr val="182033"/>
            </a:solidFill>
            <a:prstDash val="solid"/>
          </a:ln>
        </p:spPr>
      </p:sp>
      <p:sp>
        <p:nvSpPr>
          <p:cNvPr id="5" name="Text 3"/>
          <p:cNvSpPr txBox="1"/>
          <p:nvPr/>
        </p:nvSpPr>
        <p:spPr>
          <a:xfrm>
            <a:off x="914400" y="1965960"/>
            <a:ext cx="2880360" cy="274320"/>
          </a:xfrm>
          <a:prstGeom prst="rect">
            <a:avLst/>
          </a:prstGeom>
          <a:noFill/>
          <a:ln/>
        </p:spPr>
        <p:txBody>
          <a:bodyPr wrap="square" lIns="0" tIns="0" rIns="0" bIns="0" rtlCol="0" anchor="ctr"/>
          <a:lstStyle/>
          <a:p>
            <a:pPr indent="0" marL="0">
              <a:buNone/>
            </a:pPr>
            <a:r>
              <a:rPr lang="en-US" sz="1100" b="1" spc="150" kern="0" dirty="0">
                <a:solidFill>
                  <a:srgbClr val="8C9AB5"/>
                </a:solidFill>
                <a:latin typeface="Calibri" pitchFamily="34" charset="0"/>
                <a:ea typeface="Calibri" pitchFamily="34" charset="-122"/>
                <a:cs typeface="Calibri" pitchFamily="34" charset="-120"/>
              </a:rPr>
              <a:t>SIMULATION TESTS</a:t>
            </a:r>
            <a:endParaRPr lang="en-US" sz="1100" dirty="0"/>
          </a:p>
        </p:txBody>
      </p:sp>
      <p:sp>
        <p:nvSpPr>
          <p:cNvPr id="6" name="Text 4"/>
          <p:cNvSpPr txBox="1"/>
          <p:nvPr/>
        </p:nvSpPr>
        <p:spPr>
          <a:xfrm>
            <a:off x="914400" y="2286000"/>
            <a:ext cx="2880360" cy="411480"/>
          </a:xfrm>
          <a:prstGeom prst="rect">
            <a:avLst/>
          </a:prstGeom>
          <a:noFill/>
          <a:ln/>
        </p:spPr>
        <p:txBody>
          <a:bodyPr wrap="square" lIns="0" tIns="0" rIns="0" bIns="0" rtlCol="0" anchor="ctr"/>
          <a:lstStyle/>
          <a:p>
            <a:pPr indent="0" marL="0">
              <a:buNone/>
            </a:pPr>
            <a:r>
              <a:rPr lang="en-US" sz="1800" b="1" dirty="0">
                <a:solidFill>
                  <a:srgbClr val="2FB98D"/>
                </a:solidFill>
                <a:latin typeface="Courier New" pitchFamily="34" charset="0"/>
                <a:ea typeface="Courier New" pitchFamily="34" charset="-122"/>
                <a:cs typeface="Courier New" pitchFamily="34" charset="-120"/>
              </a:rPr>
              <a:t>1543fcb5…0c74</a:t>
            </a:r>
            <a:endParaRPr lang="en-US" sz="1800" dirty="0"/>
          </a:p>
        </p:txBody>
      </p:sp>
      <p:sp>
        <p:nvSpPr>
          <p:cNvPr id="7" name="Text 5"/>
          <p:cNvSpPr txBox="1"/>
          <p:nvPr/>
        </p:nvSpPr>
        <p:spPr>
          <a:xfrm>
            <a:off x="914400" y="2788920"/>
            <a:ext cx="2880360" cy="274320"/>
          </a:xfrm>
          <a:prstGeom prst="rect">
            <a:avLst/>
          </a:prstGeom>
          <a:noFill/>
          <a:ln/>
        </p:spPr>
        <p:txBody>
          <a:bodyPr wrap="square" lIns="0" tIns="0" rIns="0" bIns="0" rtlCol="0" anchor="ctr"/>
          <a:lstStyle/>
          <a:p>
            <a:pPr indent="0" marL="0">
              <a:buNone/>
            </a:pPr>
            <a:r>
              <a:rPr lang="en-US" sz="1300" dirty="0">
                <a:solidFill>
                  <a:srgbClr val="EEF2FA"/>
                </a:solidFill>
                <a:latin typeface="Calibri" pitchFamily="34" charset="0"/>
                <a:ea typeface="Calibri" pitchFamily="34" charset="-122"/>
                <a:cs typeface="Calibri" pitchFamily="34" charset="-120"/>
              </a:rPr>
              <a:t>byte identical</a:t>
            </a:r>
            <a:endParaRPr lang="en-US" sz="1300" dirty="0"/>
          </a:p>
        </p:txBody>
      </p:sp>
      <p:sp>
        <p:nvSpPr>
          <p:cNvPr id="8" name="Shape 6"/>
          <p:cNvSpPr/>
          <p:nvPr/>
        </p:nvSpPr>
        <p:spPr>
          <a:xfrm>
            <a:off x="914400" y="3200400"/>
            <a:ext cx="2880360" cy="0"/>
          </a:xfrm>
          <a:prstGeom prst="line">
            <a:avLst/>
          </a:prstGeom>
          <a:noFill/>
          <a:ln w="12700">
            <a:solidFill>
              <a:srgbClr val="2A3550"/>
            </a:solidFill>
            <a:prstDash val="solid"/>
          </a:ln>
        </p:spPr>
      </p:sp>
      <p:sp>
        <p:nvSpPr>
          <p:cNvPr id="9" name="Text 7"/>
          <p:cNvSpPr txBox="1"/>
          <p:nvPr/>
        </p:nvSpPr>
        <p:spPr>
          <a:xfrm>
            <a:off x="914400" y="3291840"/>
            <a:ext cx="2880360" cy="274320"/>
          </a:xfrm>
          <a:prstGeom prst="rect">
            <a:avLst/>
          </a:prstGeom>
          <a:noFill/>
          <a:ln/>
        </p:spPr>
        <p:txBody>
          <a:bodyPr wrap="square" lIns="0" tIns="0" rIns="0" bIns="0" rtlCol="0" anchor="ctr"/>
          <a:lstStyle/>
          <a:p>
            <a:pPr indent="0" marL="0">
              <a:buNone/>
            </a:pPr>
            <a:r>
              <a:rPr lang="en-US" sz="1200" dirty="0">
                <a:solidFill>
                  <a:srgbClr val="8C9AB5"/>
                </a:solidFill>
                <a:latin typeface="Calibri" pitchFamily="34" charset="0"/>
                <a:ea typeface="Calibri" pitchFamily="34" charset="-122"/>
                <a:cs typeface="Calibri" pitchFamily="34" charset="-120"/>
              </a:rPr>
              <a:t>same book · same nonce</a:t>
            </a:r>
            <a:endParaRPr lang="en-US" sz="1200" dirty="0"/>
          </a:p>
        </p:txBody>
      </p:sp>
      <p:sp>
        <p:nvSpPr>
          <p:cNvPr id="10" name="Shape 8"/>
          <p:cNvSpPr/>
          <p:nvPr/>
        </p:nvSpPr>
        <p:spPr>
          <a:xfrm>
            <a:off x="4343400" y="1737360"/>
            <a:ext cx="3429000" cy="1965960"/>
          </a:xfrm>
          <a:prstGeom prst="roundRect">
            <a:avLst>
              <a:gd name="adj" fmla="val 4186"/>
            </a:avLst>
          </a:prstGeom>
          <a:solidFill>
            <a:srgbClr val="182033"/>
          </a:solidFill>
          <a:ln w="12700">
            <a:solidFill>
              <a:srgbClr val="182033"/>
            </a:solidFill>
            <a:prstDash val="solid"/>
          </a:ln>
        </p:spPr>
      </p:sp>
      <p:sp>
        <p:nvSpPr>
          <p:cNvPr id="11" name="Text 9"/>
          <p:cNvSpPr txBox="1"/>
          <p:nvPr/>
        </p:nvSpPr>
        <p:spPr>
          <a:xfrm>
            <a:off x="4617720" y="1965960"/>
            <a:ext cx="2880360" cy="274320"/>
          </a:xfrm>
          <a:prstGeom prst="rect">
            <a:avLst/>
          </a:prstGeom>
          <a:noFill/>
          <a:ln/>
        </p:spPr>
        <p:txBody>
          <a:bodyPr wrap="square" lIns="0" tIns="0" rIns="0" bIns="0" rtlCol="0" anchor="ctr"/>
          <a:lstStyle/>
          <a:p>
            <a:pPr indent="0" marL="0">
              <a:buNone/>
            </a:pPr>
            <a:r>
              <a:rPr lang="en-US" sz="1100" b="1" spc="150" kern="0" dirty="0">
                <a:solidFill>
                  <a:srgbClr val="8C9AB5"/>
                </a:solidFill>
                <a:latin typeface="Calibri" pitchFamily="34" charset="0"/>
                <a:ea typeface="Calibri" pitchFamily="34" charset="-122"/>
                <a:cs typeface="Calibri" pitchFamily="34" charset="-120"/>
              </a:rPr>
              <a:t>LOCAL CHAIN</a:t>
            </a:r>
            <a:endParaRPr lang="en-US" sz="1100" dirty="0"/>
          </a:p>
        </p:txBody>
      </p:sp>
      <p:sp>
        <p:nvSpPr>
          <p:cNvPr id="12" name="Text 10"/>
          <p:cNvSpPr txBox="1"/>
          <p:nvPr/>
        </p:nvSpPr>
        <p:spPr>
          <a:xfrm>
            <a:off x="4617720" y="2286000"/>
            <a:ext cx="2880360" cy="411480"/>
          </a:xfrm>
          <a:prstGeom prst="rect">
            <a:avLst/>
          </a:prstGeom>
          <a:noFill/>
          <a:ln/>
        </p:spPr>
        <p:txBody>
          <a:bodyPr wrap="square" lIns="0" tIns="0" rIns="0" bIns="0" rtlCol="0" anchor="ctr"/>
          <a:lstStyle/>
          <a:p>
            <a:pPr indent="0" marL="0">
              <a:buNone/>
            </a:pPr>
            <a:r>
              <a:rPr lang="en-US" sz="1800" b="1" dirty="0">
                <a:solidFill>
                  <a:srgbClr val="2FB98D"/>
                </a:solidFill>
                <a:latin typeface="Courier New" pitchFamily="34" charset="0"/>
                <a:ea typeface="Courier New" pitchFamily="34" charset="-122"/>
                <a:cs typeface="Courier New" pitchFamily="34" charset="-120"/>
              </a:rPr>
              <a:t>1543fcb5…0c74</a:t>
            </a:r>
            <a:endParaRPr lang="en-US" sz="1800" dirty="0"/>
          </a:p>
        </p:txBody>
      </p:sp>
      <p:sp>
        <p:nvSpPr>
          <p:cNvPr id="13" name="Text 11"/>
          <p:cNvSpPr txBox="1"/>
          <p:nvPr/>
        </p:nvSpPr>
        <p:spPr>
          <a:xfrm>
            <a:off x="4617720" y="2788920"/>
            <a:ext cx="2880360" cy="274320"/>
          </a:xfrm>
          <a:prstGeom prst="rect">
            <a:avLst/>
          </a:prstGeom>
          <a:noFill/>
          <a:ln/>
        </p:spPr>
        <p:txBody>
          <a:bodyPr wrap="square" lIns="0" tIns="0" rIns="0" bIns="0" rtlCol="0" anchor="ctr"/>
          <a:lstStyle/>
          <a:p>
            <a:pPr indent="0" marL="0">
              <a:buNone/>
            </a:pPr>
            <a:r>
              <a:rPr lang="en-US" sz="1300" dirty="0">
                <a:solidFill>
                  <a:srgbClr val="EEF2FA"/>
                </a:solidFill>
                <a:latin typeface="Calibri" pitchFamily="34" charset="0"/>
                <a:ea typeface="Calibri" pitchFamily="34" charset="-122"/>
                <a:cs typeface="Calibri" pitchFamily="34" charset="-120"/>
              </a:rPr>
              <a:t>byte identical</a:t>
            </a:r>
            <a:endParaRPr lang="en-US" sz="1300" dirty="0"/>
          </a:p>
        </p:txBody>
      </p:sp>
      <p:sp>
        <p:nvSpPr>
          <p:cNvPr id="14" name="Shape 12"/>
          <p:cNvSpPr/>
          <p:nvPr/>
        </p:nvSpPr>
        <p:spPr>
          <a:xfrm>
            <a:off x="4617720" y="3200400"/>
            <a:ext cx="2880360" cy="0"/>
          </a:xfrm>
          <a:prstGeom prst="line">
            <a:avLst/>
          </a:prstGeom>
          <a:noFill/>
          <a:ln w="12700">
            <a:solidFill>
              <a:srgbClr val="2A3550"/>
            </a:solidFill>
            <a:prstDash val="solid"/>
          </a:ln>
        </p:spPr>
      </p:sp>
      <p:sp>
        <p:nvSpPr>
          <p:cNvPr id="15" name="Text 13"/>
          <p:cNvSpPr txBox="1"/>
          <p:nvPr/>
        </p:nvSpPr>
        <p:spPr>
          <a:xfrm>
            <a:off x="4617720" y="3291840"/>
            <a:ext cx="2880360" cy="274320"/>
          </a:xfrm>
          <a:prstGeom prst="rect">
            <a:avLst/>
          </a:prstGeom>
          <a:noFill/>
          <a:ln/>
        </p:spPr>
        <p:txBody>
          <a:bodyPr wrap="square" lIns="0" tIns="0" rIns="0" bIns="0" rtlCol="0" anchor="ctr"/>
          <a:lstStyle/>
          <a:p>
            <a:pPr indent="0" marL="0">
              <a:buNone/>
            </a:pPr>
            <a:r>
              <a:rPr lang="en-US" sz="1200" dirty="0">
                <a:solidFill>
                  <a:srgbClr val="8C9AB5"/>
                </a:solidFill>
                <a:latin typeface="Calibri" pitchFamily="34" charset="0"/>
                <a:ea typeface="Calibri" pitchFamily="34" charset="-122"/>
                <a:cs typeface="Calibri" pitchFamily="34" charset="-120"/>
              </a:rPr>
              <a:t>same book · same nonce</a:t>
            </a:r>
            <a:endParaRPr lang="en-US" sz="1200" dirty="0"/>
          </a:p>
        </p:txBody>
      </p:sp>
      <p:sp>
        <p:nvSpPr>
          <p:cNvPr id="16" name="Shape 14"/>
          <p:cNvSpPr/>
          <p:nvPr/>
        </p:nvSpPr>
        <p:spPr>
          <a:xfrm>
            <a:off x="8046720" y="1737360"/>
            <a:ext cx="3429000" cy="1965960"/>
          </a:xfrm>
          <a:prstGeom prst="roundRect">
            <a:avLst>
              <a:gd name="adj" fmla="val 4186"/>
            </a:avLst>
          </a:prstGeom>
          <a:solidFill>
            <a:srgbClr val="182033"/>
          </a:solidFill>
          <a:ln w="12700">
            <a:solidFill>
              <a:srgbClr val="182033"/>
            </a:solidFill>
            <a:prstDash val="solid"/>
          </a:ln>
        </p:spPr>
      </p:sp>
      <p:sp>
        <p:nvSpPr>
          <p:cNvPr id="17" name="Text 15"/>
          <p:cNvSpPr txBox="1"/>
          <p:nvPr/>
        </p:nvSpPr>
        <p:spPr>
          <a:xfrm>
            <a:off x="8321040" y="1965960"/>
            <a:ext cx="2880360" cy="274320"/>
          </a:xfrm>
          <a:prstGeom prst="rect">
            <a:avLst/>
          </a:prstGeom>
          <a:noFill/>
          <a:ln/>
        </p:spPr>
        <p:txBody>
          <a:bodyPr wrap="square" lIns="0" tIns="0" rIns="0" bIns="0" rtlCol="0" anchor="ctr"/>
          <a:lstStyle/>
          <a:p>
            <a:pPr indent="0" marL="0">
              <a:buNone/>
            </a:pPr>
            <a:r>
              <a:rPr lang="en-US" sz="1100" b="1" spc="150" kern="0" dirty="0">
                <a:solidFill>
                  <a:srgbClr val="8C9AB5"/>
                </a:solidFill>
                <a:latin typeface="Calibri" pitchFamily="34" charset="0"/>
                <a:ea typeface="Calibri" pitchFamily="34" charset="-122"/>
                <a:cs typeface="Calibri" pitchFamily="34" charset="-120"/>
              </a:rPr>
              <a:t>PUBLIC PREPROD</a:t>
            </a:r>
            <a:endParaRPr lang="en-US" sz="1100" dirty="0"/>
          </a:p>
        </p:txBody>
      </p:sp>
      <p:sp>
        <p:nvSpPr>
          <p:cNvPr id="18" name="Text 16"/>
          <p:cNvSpPr txBox="1"/>
          <p:nvPr/>
        </p:nvSpPr>
        <p:spPr>
          <a:xfrm>
            <a:off x="8321040" y="2286000"/>
            <a:ext cx="2880360" cy="411480"/>
          </a:xfrm>
          <a:prstGeom prst="rect">
            <a:avLst/>
          </a:prstGeom>
          <a:noFill/>
          <a:ln/>
        </p:spPr>
        <p:txBody>
          <a:bodyPr wrap="square" lIns="0" tIns="0" rIns="0" bIns="0" rtlCol="0" anchor="ctr"/>
          <a:lstStyle/>
          <a:p>
            <a:pPr indent="0" marL="0">
              <a:buNone/>
            </a:pPr>
            <a:r>
              <a:rPr lang="en-US" sz="1800" b="1" dirty="0">
                <a:solidFill>
                  <a:srgbClr val="2FB98D"/>
                </a:solidFill>
                <a:latin typeface="Courier New" pitchFamily="34" charset="0"/>
                <a:ea typeface="Courier New" pitchFamily="34" charset="-122"/>
                <a:cs typeface="Courier New" pitchFamily="34" charset="-120"/>
              </a:rPr>
              <a:t>1543fcb5…0c74</a:t>
            </a:r>
            <a:endParaRPr lang="en-US" sz="1800" dirty="0"/>
          </a:p>
        </p:txBody>
      </p:sp>
      <p:sp>
        <p:nvSpPr>
          <p:cNvPr id="19" name="Text 17"/>
          <p:cNvSpPr txBox="1"/>
          <p:nvPr/>
        </p:nvSpPr>
        <p:spPr>
          <a:xfrm>
            <a:off x="8321040" y="2788920"/>
            <a:ext cx="2880360" cy="274320"/>
          </a:xfrm>
          <a:prstGeom prst="rect">
            <a:avLst/>
          </a:prstGeom>
          <a:noFill/>
          <a:ln/>
        </p:spPr>
        <p:txBody>
          <a:bodyPr wrap="square" lIns="0" tIns="0" rIns="0" bIns="0" rtlCol="0" anchor="ctr"/>
          <a:lstStyle/>
          <a:p>
            <a:pPr indent="0" marL="0">
              <a:buNone/>
            </a:pPr>
            <a:r>
              <a:rPr lang="en-US" sz="1300" dirty="0">
                <a:solidFill>
                  <a:srgbClr val="EEF2FA"/>
                </a:solidFill>
                <a:latin typeface="Calibri" pitchFamily="34" charset="0"/>
                <a:ea typeface="Calibri" pitchFamily="34" charset="-122"/>
                <a:cs typeface="Calibri" pitchFamily="34" charset="-120"/>
              </a:rPr>
              <a:t>byte identical</a:t>
            </a:r>
            <a:endParaRPr lang="en-US" sz="1300" dirty="0"/>
          </a:p>
        </p:txBody>
      </p:sp>
      <p:sp>
        <p:nvSpPr>
          <p:cNvPr id="20" name="Shape 18"/>
          <p:cNvSpPr/>
          <p:nvPr/>
        </p:nvSpPr>
        <p:spPr>
          <a:xfrm>
            <a:off x="8321040" y="3200400"/>
            <a:ext cx="2880360" cy="0"/>
          </a:xfrm>
          <a:prstGeom prst="line">
            <a:avLst/>
          </a:prstGeom>
          <a:noFill/>
          <a:ln w="12700">
            <a:solidFill>
              <a:srgbClr val="2A3550"/>
            </a:solidFill>
            <a:prstDash val="solid"/>
          </a:ln>
        </p:spPr>
      </p:sp>
      <p:sp>
        <p:nvSpPr>
          <p:cNvPr id="21" name="Text 19"/>
          <p:cNvSpPr txBox="1"/>
          <p:nvPr/>
        </p:nvSpPr>
        <p:spPr>
          <a:xfrm>
            <a:off x="8321040" y="3291840"/>
            <a:ext cx="2880360" cy="274320"/>
          </a:xfrm>
          <a:prstGeom prst="rect">
            <a:avLst/>
          </a:prstGeom>
          <a:noFill/>
          <a:ln/>
        </p:spPr>
        <p:txBody>
          <a:bodyPr wrap="square" lIns="0" tIns="0" rIns="0" bIns="0" rtlCol="0" anchor="ctr"/>
          <a:lstStyle/>
          <a:p>
            <a:pPr indent="0" marL="0">
              <a:buNone/>
            </a:pPr>
            <a:r>
              <a:rPr lang="en-US" sz="1200" dirty="0">
                <a:solidFill>
                  <a:srgbClr val="8C9AB5"/>
                </a:solidFill>
                <a:latin typeface="Calibri" pitchFamily="34" charset="0"/>
                <a:ea typeface="Calibri" pitchFamily="34" charset="-122"/>
                <a:cs typeface="Calibri" pitchFamily="34" charset="-120"/>
              </a:rPr>
              <a:t>same book · same nonce</a:t>
            </a:r>
            <a:endParaRPr lang="en-US" sz="1200" dirty="0"/>
          </a:p>
        </p:txBody>
      </p:sp>
      <p:sp>
        <p:nvSpPr>
          <p:cNvPr id="22" name="Shape 20"/>
          <p:cNvSpPr/>
          <p:nvPr/>
        </p:nvSpPr>
        <p:spPr>
          <a:xfrm>
            <a:off x="640080" y="4023360"/>
            <a:ext cx="5212080" cy="1965960"/>
          </a:xfrm>
          <a:prstGeom prst="roundRect">
            <a:avLst>
              <a:gd name="adj" fmla="val 4186"/>
            </a:avLst>
          </a:prstGeom>
          <a:solidFill>
            <a:srgbClr val="141B2B"/>
          </a:solidFill>
          <a:ln w="12700">
            <a:solidFill>
              <a:srgbClr val="141B2B"/>
            </a:solidFill>
            <a:prstDash val="solid"/>
          </a:ln>
        </p:spPr>
      </p:sp>
      <p:sp>
        <p:nvSpPr>
          <p:cNvPr id="23" name="Text 21"/>
          <p:cNvSpPr txBox="1"/>
          <p:nvPr/>
        </p:nvSpPr>
        <p:spPr>
          <a:xfrm>
            <a:off x="914400" y="4224528"/>
            <a:ext cx="4663440" cy="274320"/>
          </a:xfrm>
          <a:prstGeom prst="rect">
            <a:avLst/>
          </a:prstGeom>
          <a:noFill/>
          <a:ln/>
        </p:spPr>
        <p:txBody>
          <a:bodyPr wrap="square" lIns="0" tIns="0" rIns="0" bIns="0" rtlCol="0" anchor="ctr"/>
          <a:lstStyle/>
          <a:p>
            <a:pPr indent="0" marL="0">
              <a:buNone/>
            </a:pPr>
            <a:r>
              <a:rPr lang="en-US" sz="1100" b="1" spc="150" kern="0" dirty="0">
                <a:solidFill>
                  <a:srgbClr val="E4573D"/>
                </a:solidFill>
                <a:latin typeface="Calibri" pitchFamily="34" charset="0"/>
                <a:ea typeface="Calibri" pitchFamily="34" charset="-122"/>
                <a:cs typeface="Calibri" pitchFamily="34" charset="-120"/>
              </a:rPr>
              <a:t>AND THE CONVERSE IS PROVEN</a:t>
            </a:r>
            <a:endParaRPr lang="en-US" sz="1100" dirty="0"/>
          </a:p>
        </p:txBody>
      </p:sp>
      <p:sp>
        <p:nvSpPr>
          <p:cNvPr id="24" name="Text 22"/>
          <p:cNvSpPr txBox="1"/>
          <p:nvPr/>
        </p:nvSpPr>
        <p:spPr>
          <a:xfrm>
            <a:off x="914400" y="4526280"/>
            <a:ext cx="4663440" cy="1188720"/>
          </a:xfrm>
          <a:prstGeom prst="rect">
            <a:avLst/>
          </a:prstGeom>
          <a:noFill/>
          <a:ln/>
        </p:spPr>
        <p:txBody>
          <a:bodyPr wrap="square" lIns="0" tIns="0" rIns="0" bIns="0" rtlCol="0" anchor="ctr"/>
          <a:lstStyle/>
          <a:p>
            <a:pPr indent="0" marL="0">
              <a:lnSpc>
                <a:spcPts val="1900"/>
              </a:lnSpc>
              <a:buNone/>
            </a:pPr>
            <a:r>
              <a:rPr lang="en-US" sz="1400" dirty="0">
                <a:solidFill>
                  <a:srgbClr val="EEF2FA"/>
                </a:solidFill>
                <a:latin typeface="Calibri" pitchFamily="34" charset="0"/>
                <a:ea typeface="Calibri" pitchFamily="34" charset="-122"/>
                <a:cs typeface="Calibri" pitchFamily="34" charset="-120"/>
              </a:rPr>
              <a:t>Change only the debt, only one position, or only the nonce, and the commitment moves. A separate test for each field.</a:t>
            </a:r>
            <a:endParaRPr lang="en-US" sz="1400" dirty="0"/>
          </a:p>
        </p:txBody>
      </p:sp>
      <p:sp>
        <p:nvSpPr>
          <p:cNvPr id="25" name="Shape 23"/>
          <p:cNvSpPr/>
          <p:nvPr/>
        </p:nvSpPr>
        <p:spPr>
          <a:xfrm>
            <a:off x="6309360" y="4023360"/>
            <a:ext cx="5212080" cy="1965960"/>
          </a:xfrm>
          <a:prstGeom prst="roundRect">
            <a:avLst>
              <a:gd name="adj" fmla="val 4186"/>
            </a:avLst>
          </a:prstGeom>
          <a:solidFill>
            <a:srgbClr val="141B2B"/>
          </a:solidFill>
          <a:ln w="12700">
            <a:solidFill>
              <a:srgbClr val="141B2B"/>
            </a:solidFill>
            <a:prstDash val="solid"/>
          </a:ln>
        </p:spPr>
      </p:sp>
      <p:sp>
        <p:nvSpPr>
          <p:cNvPr id="26" name="Text 24"/>
          <p:cNvSpPr txBox="1"/>
          <p:nvPr/>
        </p:nvSpPr>
        <p:spPr>
          <a:xfrm>
            <a:off x="6583680" y="4224528"/>
            <a:ext cx="4663440" cy="274320"/>
          </a:xfrm>
          <a:prstGeom prst="rect">
            <a:avLst/>
          </a:prstGeom>
          <a:noFill/>
          <a:ln/>
        </p:spPr>
        <p:txBody>
          <a:bodyPr wrap="square" lIns="0" tIns="0" rIns="0" bIns="0" rtlCol="0" anchor="ctr"/>
          <a:lstStyle/>
          <a:p>
            <a:pPr indent="0" marL="0">
              <a:buNone/>
            </a:pPr>
            <a:r>
              <a:rPr lang="en-US" sz="1100" b="1" spc="150" kern="0" dirty="0">
                <a:solidFill>
                  <a:srgbClr val="E0A44C"/>
                </a:solidFill>
                <a:latin typeface="Calibri" pitchFamily="34" charset="0"/>
                <a:ea typeface="Calibri" pitchFamily="34" charset="-122"/>
                <a:cs typeface="Calibri" pitchFamily="34" charset="-120"/>
              </a:rPr>
              <a:t>THE VENUE HASH CORRECTLY DIFFERS</a:t>
            </a:r>
            <a:endParaRPr lang="en-US" sz="1100" dirty="0"/>
          </a:p>
        </p:txBody>
      </p:sp>
      <p:sp>
        <p:nvSpPr>
          <p:cNvPr id="27" name="Text 25"/>
          <p:cNvSpPr txBox="1"/>
          <p:nvPr/>
        </p:nvSpPr>
        <p:spPr>
          <a:xfrm>
            <a:off x="6583680" y="4526280"/>
            <a:ext cx="4663440" cy="1188720"/>
          </a:xfrm>
          <a:prstGeom prst="rect">
            <a:avLst/>
          </a:prstGeom>
          <a:noFill/>
          <a:ln/>
        </p:spPr>
        <p:txBody>
          <a:bodyPr wrap="square" lIns="0" tIns="0" rIns="0" bIns="0" rtlCol="0" anchor="ctr"/>
          <a:lstStyle/>
          <a:p>
            <a:pPr indent="0" marL="0">
              <a:lnSpc>
                <a:spcPts val="1900"/>
              </a:lnSpc>
              <a:buNone/>
            </a:pPr>
            <a:r>
              <a:rPr lang="en-US" sz="1400" dirty="0">
                <a:solidFill>
                  <a:srgbClr val="EEF2FA"/>
                </a:solidFill>
                <a:latin typeface="Calibri" pitchFamily="34" charset="0"/>
                <a:ea typeface="Calibri" pitchFamily="34" charset="-122"/>
                <a:cs typeface="Calibri" pitchFamily="34" charset="-120"/>
              </a:rPr>
              <a:t>It covers the published venue array, which carries block heights. Those are chain specific. Two hashes, two scopes, both behaving as designed.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SOUNDNESS</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The holes we found, and the asserts that close them</a:t>
            </a:r>
            <a:endParaRPr lang="en-US" sz="3400" dirty="0"/>
          </a:p>
        </p:txBody>
      </p:sp>
      <p:sp>
        <p:nvSpPr>
          <p:cNvPr id="4" name="Shape 2"/>
          <p:cNvSpPr/>
          <p:nvPr/>
        </p:nvSpPr>
        <p:spPr>
          <a:xfrm>
            <a:off x="640080" y="1691640"/>
            <a:ext cx="6903720" cy="2148840"/>
          </a:xfrm>
          <a:prstGeom prst="roundRect">
            <a:avLst>
              <a:gd name="adj" fmla="val 3830"/>
            </a:avLst>
          </a:prstGeom>
          <a:solidFill>
            <a:srgbClr val="182033"/>
          </a:solidFill>
          <a:ln w="12700">
            <a:solidFill>
              <a:srgbClr val="182033"/>
            </a:solidFill>
            <a:prstDash val="solid"/>
          </a:ln>
        </p:spPr>
      </p:sp>
      <p:sp>
        <p:nvSpPr>
          <p:cNvPr id="5" name="Text 3"/>
          <p:cNvSpPr txBox="1"/>
          <p:nvPr/>
        </p:nvSpPr>
        <p:spPr>
          <a:xfrm>
            <a:off x="914400" y="1901952"/>
            <a:ext cx="6355080" cy="274320"/>
          </a:xfrm>
          <a:prstGeom prst="rect">
            <a:avLst/>
          </a:prstGeom>
          <a:noFill/>
          <a:ln/>
        </p:spPr>
        <p:txBody>
          <a:bodyPr wrap="square" lIns="0" tIns="0" rIns="0" bIns="0" rtlCol="0" anchor="ctr"/>
          <a:lstStyle/>
          <a:p>
            <a:pPr indent="0" marL="0">
              <a:buNone/>
            </a:pPr>
            <a:r>
              <a:rPr lang="en-US" sz="1100" b="1" spc="150" kern="0" dirty="0">
                <a:solidFill>
                  <a:srgbClr val="E4573D"/>
                </a:solidFill>
                <a:latin typeface="Calibri" pitchFamily="34" charset="0"/>
                <a:ea typeface="Calibri" pitchFamily="34" charset="-122"/>
                <a:cs typeface="Calibri" pitchFamily="34" charset="-120"/>
              </a:rPr>
              <a:t>THE ZERO SLOT HOLE</a:t>
            </a:r>
            <a:endParaRPr lang="en-US" sz="1100" dirty="0"/>
          </a:p>
        </p:txBody>
      </p:sp>
      <p:sp>
        <p:nvSpPr>
          <p:cNvPr id="6" name="Text 4"/>
          <p:cNvSpPr txBox="1"/>
          <p:nvPr/>
        </p:nvSpPr>
        <p:spPr>
          <a:xfrm>
            <a:off x="914400" y="2212848"/>
            <a:ext cx="6355080" cy="914400"/>
          </a:xfrm>
          <a:prstGeom prst="rect">
            <a:avLst/>
          </a:prstGeom>
          <a:noFill/>
          <a:ln/>
        </p:spPr>
        <p:txBody>
          <a:bodyPr wrap="square" lIns="0" tIns="0" rIns="0" bIns="0" rtlCol="0" anchor="ctr"/>
          <a:lstStyle/>
          <a:p>
            <a:pPr indent="0" marL="0">
              <a:lnSpc>
                <a:spcPts val="1900"/>
              </a:lnSpc>
              <a:buNone/>
            </a:pPr>
            <a:r>
              <a:rPr lang="en-US" sz="1400" dirty="0">
                <a:solidFill>
                  <a:srgbClr val="EEF2FA"/>
                </a:solidFill>
                <a:latin typeface="Calibri" pitchFamily="34" charset="0"/>
                <a:ea typeface="Calibri" pitchFamily="34" charset="-122"/>
                <a:cs typeface="Calibri" pitchFamily="34" charset="-120"/>
              </a:rPr>
              <a:t>With size zero the constraint reduces to p × X ≤ 0, which forces p = 0, but only if X is positive. If reserves are also zero, the inequality holds for any claim, and a padding slot becomes unbounded collateral.</a:t>
            </a:r>
            <a:endParaRPr lang="en-US" sz="1400" dirty="0"/>
          </a:p>
        </p:txBody>
      </p:sp>
      <p:sp>
        <p:nvSpPr>
          <p:cNvPr id="7" name="Text 5"/>
          <p:cNvSpPr txBox="1"/>
          <p:nvPr/>
        </p:nvSpPr>
        <p:spPr>
          <a:xfrm>
            <a:off x="914400" y="3127248"/>
            <a:ext cx="6355080" cy="411480"/>
          </a:xfrm>
          <a:prstGeom prst="rect">
            <a:avLst/>
          </a:prstGeom>
          <a:noFill/>
          <a:ln/>
        </p:spPr>
        <p:txBody>
          <a:bodyPr wrap="square" lIns="0" tIns="0" rIns="0" bIns="0" rtlCol="0" anchor="ctr"/>
          <a:lstStyle/>
          <a:p>
            <a:pPr indent="0" marL="0">
              <a:buNone/>
            </a:pPr>
            <a:r>
              <a:rPr lang="en-US" sz="1400" b="1" dirty="0">
                <a:solidFill>
                  <a:srgbClr val="2FB98D"/>
                </a:solidFill>
                <a:latin typeface="Calibri" pitchFamily="34" charset="0"/>
                <a:ea typeface="Calibri" pitchFamily="34" charset="-122"/>
                <a:cs typeface="Calibri" pitchFamily="34" charset="-120"/>
              </a:rPr>
              <a:t>Every slot asserts positive reserves, padding included. A test demonstrates the hole rather than describing it.</a:t>
            </a:r>
            <a:endParaRPr lang="en-US" sz="1400" dirty="0"/>
          </a:p>
        </p:txBody>
      </p:sp>
      <p:sp>
        <p:nvSpPr>
          <p:cNvPr id="8" name="Shape 6"/>
          <p:cNvSpPr/>
          <p:nvPr/>
        </p:nvSpPr>
        <p:spPr>
          <a:xfrm>
            <a:off x="640080" y="4023360"/>
            <a:ext cx="6903720" cy="1965960"/>
          </a:xfrm>
          <a:prstGeom prst="roundRect">
            <a:avLst>
              <a:gd name="adj" fmla="val 4186"/>
            </a:avLst>
          </a:prstGeom>
          <a:solidFill>
            <a:srgbClr val="182033"/>
          </a:solidFill>
          <a:ln w="12700">
            <a:solidFill>
              <a:srgbClr val="182033"/>
            </a:solidFill>
            <a:prstDash val="solid"/>
          </a:ln>
        </p:spPr>
      </p:sp>
      <p:sp>
        <p:nvSpPr>
          <p:cNvPr id="9" name="Text 7"/>
          <p:cNvSpPr txBox="1"/>
          <p:nvPr/>
        </p:nvSpPr>
        <p:spPr>
          <a:xfrm>
            <a:off x="914400" y="4206240"/>
            <a:ext cx="6355080" cy="274320"/>
          </a:xfrm>
          <a:prstGeom prst="rect">
            <a:avLst/>
          </a:prstGeom>
          <a:noFill/>
          <a:ln/>
        </p:spPr>
        <p:txBody>
          <a:bodyPr wrap="square" lIns="0" tIns="0" rIns="0" bIns="0" rtlCol="0" anchor="ctr"/>
          <a:lstStyle/>
          <a:p>
            <a:pPr indent="0" marL="0">
              <a:buNone/>
            </a:pPr>
            <a:r>
              <a:rPr lang="en-US" sz="1100" b="1" spc="150" kern="0" dirty="0">
                <a:solidFill>
                  <a:srgbClr val="2FB98D"/>
                </a:solidFill>
                <a:latin typeface="Calibri" pitchFamily="34" charset="0"/>
                <a:ea typeface="Calibri" pitchFamily="34" charset="-122"/>
                <a:cs typeface="Calibri" pitchFamily="34" charset="-120"/>
              </a:rPr>
              <a:t>THE COMPILER REFUSES TO LEAK THE BOOK</a:t>
            </a:r>
            <a:endParaRPr lang="en-US" sz="1100" dirty="0"/>
          </a:p>
        </p:txBody>
      </p:sp>
      <p:sp>
        <p:nvSpPr>
          <p:cNvPr id="10" name="Text 8"/>
          <p:cNvSpPr txBox="1"/>
          <p:nvPr/>
        </p:nvSpPr>
        <p:spPr>
          <a:xfrm>
            <a:off x="914400" y="4507992"/>
            <a:ext cx="6355080" cy="640080"/>
          </a:xfrm>
          <a:prstGeom prst="rect">
            <a:avLst/>
          </a:prstGeom>
          <a:noFill/>
          <a:ln/>
        </p:spPr>
        <p:txBody>
          <a:bodyPr wrap="square" lIns="0" tIns="0" rIns="0" bIns="0" rtlCol="0" anchor="ctr"/>
          <a:lstStyle/>
          <a:p>
            <a:pPr indent="0" marL="0">
              <a:lnSpc>
                <a:spcPts val="1700"/>
              </a:lnSpc>
              <a:buNone/>
            </a:pPr>
            <a:r>
              <a:rPr lang="en-US" sz="1200" dirty="0">
                <a:solidFill>
                  <a:srgbClr val="E0A44C"/>
                </a:solidFill>
                <a:latin typeface="Courier New" pitchFamily="34" charset="0"/>
                <a:ea typeface="Courier New" pitchFamily="34" charset="-122"/>
                <a:cs typeface="Courier New" pitchFamily="34" charset="-120"/>
              </a:rPr>
              <a:t>potential witness-value disclosure must be declared</a:t>
            </a:r>
            <a:endParaRPr lang="en-US" sz="1200" dirty="0"/>
          </a:p>
          <a:p>
            <a:pPr indent="0" marL="0">
              <a:lnSpc>
                <a:spcPts val="1700"/>
              </a:lnSpc>
              <a:buNone/>
            </a:pPr>
            <a:r>
              <a:rPr lang="en-US" sz="1200" dirty="0">
                <a:solidFill>
                  <a:srgbClr val="E0A44C"/>
                </a:solidFill>
                <a:latin typeface="Courier New" pitchFamily="34" charset="0"/>
                <a:ea typeface="Courier New" pitchFamily="34" charset="-122"/>
                <a:cs typeface="Courier New" pitchFamily="34" charset="-120"/>
              </a:rPr>
              <a:t>but is not: … via this path through the program</a:t>
            </a:r>
            <a:endParaRPr lang="en-US" sz="1200" dirty="0"/>
          </a:p>
        </p:txBody>
      </p:sp>
      <p:sp>
        <p:nvSpPr>
          <p:cNvPr id="11" name="Text 9"/>
          <p:cNvSpPr txBox="1"/>
          <p:nvPr/>
        </p:nvSpPr>
        <p:spPr>
          <a:xfrm>
            <a:off x="914400" y="5212080"/>
            <a:ext cx="6355080" cy="731520"/>
          </a:xfrm>
          <a:prstGeom prst="rect">
            <a:avLst/>
          </a:prstGeom>
          <a:noFill/>
          <a:ln/>
        </p:spPr>
        <p:txBody>
          <a:bodyPr wrap="square" lIns="0" tIns="0" rIns="0" bIns="0" rtlCol="0" anchor="ctr"/>
          <a:lstStyle/>
          <a:p>
            <a:pPr indent="0" marL="0">
              <a:lnSpc>
                <a:spcPts val="1900"/>
              </a:lnSpc>
              <a:buNone/>
            </a:pPr>
            <a:r>
              <a:rPr lang="en-US" sz="1400" dirty="0">
                <a:solidFill>
                  <a:srgbClr val="EEF2FA"/>
                </a:solidFill>
                <a:latin typeface="Calibri" pitchFamily="34" charset="0"/>
                <a:ea typeface="Calibri" pitchFamily="34" charset="-122"/>
                <a:cs typeface="Calibri" pitchFamily="34" charset="-120"/>
              </a:rPr>
              <a:t>Compact traces the path, not just the endpoint. Leaking a position becomes a compile error rather than something a test has to catch. Six disclosures in the contract, each justified in a comment.</a:t>
            </a:r>
            <a:endParaRPr lang="en-US" sz="1400" dirty="0"/>
          </a:p>
        </p:txBody>
      </p:sp>
      <p:sp>
        <p:nvSpPr>
          <p:cNvPr id="12" name="Shape 10"/>
          <p:cNvSpPr/>
          <p:nvPr/>
        </p:nvSpPr>
        <p:spPr>
          <a:xfrm>
            <a:off x="8001000" y="1691640"/>
            <a:ext cx="3520440" cy="4297680"/>
          </a:xfrm>
          <a:prstGeom prst="roundRect">
            <a:avLst>
              <a:gd name="adj" fmla="val 2338"/>
            </a:avLst>
          </a:prstGeom>
          <a:solidFill>
            <a:srgbClr val="141B2B"/>
          </a:solidFill>
          <a:ln w="12700">
            <a:solidFill>
              <a:srgbClr val="141B2B"/>
            </a:solidFill>
            <a:prstDash val="solid"/>
          </a:ln>
        </p:spPr>
      </p:sp>
      <p:sp>
        <p:nvSpPr>
          <p:cNvPr id="13" name="Text 11"/>
          <p:cNvSpPr txBox="1"/>
          <p:nvPr/>
        </p:nvSpPr>
        <p:spPr>
          <a:xfrm>
            <a:off x="8321040" y="2057400"/>
            <a:ext cx="2926080" cy="1051560"/>
          </a:xfrm>
          <a:prstGeom prst="rect">
            <a:avLst/>
          </a:prstGeom>
          <a:noFill/>
          <a:ln/>
        </p:spPr>
        <p:txBody>
          <a:bodyPr wrap="square" lIns="0" tIns="0" rIns="0" bIns="0" rtlCol="0" anchor="ctr"/>
          <a:lstStyle/>
          <a:p>
            <a:pPr indent="0" marL="0">
              <a:buNone/>
            </a:pPr>
            <a:r>
              <a:rPr lang="en-US" sz="7600" b="1" dirty="0">
                <a:solidFill>
                  <a:srgbClr val="2FB98D"/>
                </a:solidFill>
                <a:latin typeface="Arial" pitchFamily="34" charset="0"/>
                <a:ea typeface="Arial" pitchFamily="34" charset="-122"/>
                <a:cs typeface="Arial" pitchFamily="34" charset="-120"/>
              </a:rPr>
              <a:t>22</a:t>
            </a:r>
            <a:endParaRPr lang="en-US" sz="7600" dirty="0"/>
          </a:p>
        </p:txBody>
      </p:sp>
      <p:sp>
        <p:nvSpPr>
          <p:cNvPr id="14" name="Text 12"/>
          <p:cNvSpPr txBox="1"/>
          <p:nvPr/>
        </p:nvSpPr>
        <p:spPr>
          <a:xfrm>
            <a:off x="8321040" y="3063240"/>
            <a:ext cx="2926080" cy="320040"/>
          </a:xfrm>
          <a:prstGeom prst="rect">
            <a:avLst/>
          </a:prstGeom>
          <a:noFill/>
          <a:ln/>
        </p:spPr>
        <p:txBody>
          <a:bodyPr wrap="square" lIns="0" tIns="0" rIns="0" bIns="0" rtlCol="0" anchor="ctr"/>
          <a:lstStyle/>
          <a:p>
            <a:pPr indent="0" marL="0">
              <a:buNone/>
            </a:pPr>
            <a:r>
              <a:rPr lang="en-US" sz="1600" dirty="0">
                <a:solidFill>
                  <a:srgbClr val="EEF2FA"/>
                </a:solidFill>
                <a:latin typeface="Calibri" pitchFamily="34" charset="0"/>
                <a:ea typeface="Calibri" pitchFamily="34" charset="-122"/>
                <a:cs typeface="Calibri" pitchFamily="34" charset="-120"/>
              </a:rPr>
              <a:t>tests passing</a:t>
            </a:r>
            <a:endParaRPr lang="en-US" sz="1600" dirty="0"/>
          </a:p>
        </p:txBody>
      </p:sp>
      <p:sp>
        <p:nvSpPr>
          <p:cNvPr id="15" name="Text 13"/>
          <p:cNvSpPr txBox="1"/>
          <p:nvPr/>
        </p:nvSpPr>
        <p:spPr>
          <a:xfrm>
            <a:off x="8321040" y="3566160"/>
            <a:ext cx="2926080" cy="109728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8C9AB5"/>
                </a:solidFill>
                <a:latin typeface="Calibri" pitchFamily="34" charset="0"/>
                <a:ea typeface="Calibri" pitchFamily="34" charset="-122"/>
                <a:cs typeface="Calibri" pitchFamily="34" charset="-120"/>
              </a:rPr>
              <a:t>0 skipped</a:t>
            </a:r>
            <a:endParaRPr lang="en-US" sz="1400" dirty="0"/>
          </a:p>
          <a:p>
            <a:pPr marL="342900" indent="-342900">
              <a:spcAft>
                <a:spcPts val="600"/>
              </a:spcAft>
              <a:buSzPct val="100000"/>
              <a:buChar char="•"/>
            </a:pPr>
            <a:r>
              <a:rPr lang="en-US" sz="1400" dirty="0">
                <a:solidFill>
                  <a:srgbClr val="8C9AB5"/>
                </a:solidFill>
                <a:latin typeface="Calibri" pitchFamily="34" charset="0"/>
                <a:ea typeface="Calibri" pitchFamily="34" charset="-122"/>
                <a:cs typeface="Calibri" pitchFamily="34" charset="-120"/>
              </a:rPr>
              <a:t>0 stubbed</a:t>
            </a:r>
            <a:endParaRPr lang="en-US" sz="1400" dirty="0"/>
          </a:p>
          <a:p>
            <a:pPr marL="342900" indent="-342900">
              <a:spcAft>
                <a:spcPts val="600"/>
              </a:spcAft>
              <a:buSzPct val="100000"/>
              <a:buChar char="•"/>
            </a:pPr>
            <a:r>
              <a:rPr lang="en-US" sz="1400" dirty="0">
                <a:solidFill>
                  <a:srgbClr val="8C9AB5"/>
                </a:solidFill>
                <a:latin typeface="Calibri" pitchFamily="34" charset="0"/>
                <a:ea typeface="Calibri" pitchFamily="34" charset="-122"/>
                <a:cs typeface="Calibri" pitchFamily="34" charset="-120"/>
              </a:rPr>
              <a:t>0 pending</a:t>
            </a:r>
            <a:endParaRPr lang="en-US" sz="1400" dirty="0"/>
          </a:p>
        </p:txBody>
      </p:sp>
      <p:sp>
        <p:nvSpPr>
          <p:cNvPr id="16" name="Text 14"/>
          <p:cNvSpPr txBox="1"/>
          <p:nvPr/>
        </p:nvSpPr>
        <p:spPr>
          <a:xfrm>
            <a:off x="8321040" y="4709160"/>
            <a:ext cx="2926080" cy="1097280"/>
          </a:xfrm>
          <a:prstGeom prst="rect">
            <a:avLst/>
          </a:prstGeom>
          <a:noFill/>
          <a:ln/>
        </p:spPr>
        <p:txBody>
          <a:bodyPr wrap="square" lIns="0" tIns="0" rIns="0" bIns="0" rtlCol="0" anchor="ctr"/>
          <a:lstStyle/>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They drive the compiled contract through the runtime, not a JavaScript reimplementation. Every assert in the Compact source is live.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FINDINGS WORTH PASSING BACK</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Three things we measured that are not in the docs</a:t>
            </a:r>
            <a:endParaRPr lang="en-US" sz="3400" dirty="0"/>
          </a:p>
        </p:txBody>
      </p:sp>
      <p:sp>
        <p:nvSpPr>
          <p:cNvPr id="4" name="Shape 2"/>
          <p:cNvSpPr/>
          <p:nvPr/>
        </p:nvSpPr>
        <p:spPr>
          <a:xfrm>
            <a:off x="640080" y="1737360"/>
            <a:ext cx="10881360" cy="1298448"/>
          </a:xfrm>
          <a:prstGeom prst="roundRect">
            <a:avLst>
              <a:gd name="adj" fmla="val 6338"/>
            </a:avLst>
          </a:prstGeom>
          <a:solidFill>
            <a:srgbClr val="182033"/>
          </a:solidFill>
          <a:ln w="12700">
            <a:solidFill>
              <a:srgbClr val="182033"/>
            </a:solidFill>
            <a:prstDash val="solid"/>
          </a:ln>
        </p:spPr>
      </p:sp>
      <p:sp>
        <p:nvSpPr>
          <p:cNvPr id="5" name="Shape 3"/>
          <p:cNvSpPr/>
          <p:nvPr/>
        </p:nvSpPr>
        <p:spPr>
          <a:xfrm>
            <a:off x="960120" y="2240280"/>
            <a:ext cx="201168" cy="201168"/>
          </a:xfrm>
          <a:prstGeom prst="ellipse">
            <a:avLst/>
          </a:prstGeom>
          <a:solidFill>
            <a:srgbClr val="E4573D"/>
          </a:solidFill>
          <a:ln w="12700">
            <a:solidFill>
              <a:srgbClr val="E4573D"/>
            </a:solidFill>
            <a:prstDash val="solid"/>
          </a:ln>
        </p:spPr>
      </p:sp>
      <p:sp>
        <p:nvSpPr>
          <p:cNvPr id="6" name="Text 4"/>
          <p:cNvSpPr txBox="1"/>
          <p:nvPr/>
        </p:nvSpPr>
        <p:spPr>
          <a:xfrm>
            <a:off x="1417320" y="1883664"/>
            <a:ext cx="3566160" cy="1005840"/>
          </a:xfrm>
          <a:prstGeom prst="rect">
            <a:avLst/>
          </a:prstGeom>
          <a:noFill/>
          <a:ln/>
        </p:spPr>
        <p:txBody>
          <a:bodyPr wrap="square" lIns="0" tIns="0" rIns="0" bIns="0" rtlCol="0" anchor="ctr"/>
          <a:lstStyle/>
          <a:p>
            <a:pPr indent="0" marL="0">
              <a:lnSpc>
                <a:spcPts val="2100"/>
              </a:lnSpc>
              <a:buNone/>
            </a:pPr>
            <a:r>
              <a:rPr lang="en-US" sz="1600" b="1" dirty="0">
                <a:solidFill>
                  <a:srgbClr val="E4573D"/>
                </a:solidFill>
                <a:latin typeface="Arial" pitchFamily="34" charset="0"/>
                <a:ea typeface="Arial" pitchFamily="34" charset="-122"/>
                <a:cs typeface="Arial" pitchFamily="34" charset="-120"/>
              </a:rPr>
              <a:t>Two runtime instances, one confusing error</a:t>
            </a:r>
            <a:endParaRPr lang="en-US" sz="1600" dirty="0"/>
          </a:p>
        </p:txBody>
      </p:sp>
      <p:sp>
        <p:nvSpPr>
          <p:cNvPr id="7" name="Text 5"/>
          <p:cNvSpPr txBox="1"/>
          <p:nvPr/>
        </p:nvSpPr>
        <p:spPr>
          <a:xfrm>
            <a:off x="5212080" y="1901952"/>
            <a:ext cx="6035040" cy="1005840"/>
          </a:xfrm>
          <a:prstGeom prst="rect">
            <a:avLst/>
          </a:prstGeom>
          <a:noFill/>
          <a:ln/>
        </p:spPr>
        <p:txBody>
          <a:bodyPr wrap="square" lIns="0" tIns="0" rIns="0" bIns="0" rtlCol="0" anchor="ctr"/>
          <a:lstStyle/>
          <a:p>
            <a:pPr indent="0" marL="0">
              <a:lnSpc>
                <a:spcPts val="1800"/>
              </a:lnSpc>
              <a:buNone/>
            </a:pPr>
            <a:r>
              <a:rPr lang="en-US" sz="1300" dirty="0">
                <a:solidFill>
                  <a:srgbClr val="EEF2FA"/>
                </a:solidFill>
                <a:latin typeface="Calibri" pitchFamily="34" charset="0"/>
                <a:ea typeface="Calibri" pitchFamily="34" charset="-122"/>
                <a:cs typeface="Calibri" pitchFamily="34" charset="-120"/>
              </a:rPr>
              <a:t>compact-runtime resolved a different on-chain-runtime version than midnight-js pinned. State values built by one failed an instance check in the other, with an error that never mentions versions. An override pinning the matrix version fixes it.</a:t>
            </a:r>
            <a:endParaRPr lang="en-US" sz="1300" dirty="0"/>
          </a:p>
        </p:txBody>
      </p:sp>
      <p:sp>
        <p:nvSpPr>
          <p:cNvPr id="8" name="Shape 6"/>
          <p:cNvSpPr/>
          <p:nvPr/>
        </p:nvSpPr>
        <p:spPr>
          <a:xfrm>
            <a:off x="640080" y="3200400"/>
            <a:ext cx="10881360" cy="1298448"/>
          </a:xfrm>
          <a:prstGeom prst="roundRect">
            <a:avLst>
              <a:gd name="adj" fmla="val 6338"/>
            </a:avLst>
          </a:prstGeom>
          <a:solidFill>
            <a:srgbClr val="182033"/>
          </a:solidFill>
          <a:ln w="12700">
            <a:solidFill>
              <a:srgbClr val="182033"/>
            </a:solidFill>
            <a:prstDash val="solid"/>
          </a:ln>
        </p:spPr>
      </p:sp>
      <p:sp>
        <p:nvSpPr>
          <p:cNvPr id="9" name="Shape 7"/>
          <p:cNvSpPr/>
          <p:nvPr/>
        </p:nvSpPr>
        <p:spPr>
          <a:xfrm>
            <a:off x="960120" y="3703320"/>
            <a:ext cx="201168" cy="201168"/>
          </a:xfrm>
          <a:prstGeom prst="ellipse">
            <a:avLst/>
          </a:prstGeom>
          <a:solidFill>
            <a:srgbClr val="2FB98D"/>
          </a:solidFill>
          <a:ln w="12700">
            <a:solidFill>
              <a:srgbClr val="2FB98D"/>
            </a:solidFill>
            <a:prstDash val="solid"/>
          </a:ln>
        </p:spPr>
      </p:sp>
      <p:sp>
        <p:nvSpPr>
          <p:cNvPr id="10" name="Text 8"/>
          <p:cNvSpPr txBox="1"/>
          <p:nvPr/>
        </p:nvSpPr>
        <p:spPr>
          <a:xfrm>
            <a:off x="1417320" y="3346704"/>
            <a:ext cx="3566160" cy="1005840"/>
          </a:xfrm>
          <a:prstGeom prst="rect">
            <a:avLst/>
          </a:prstGeom>
          <a:noFill/>
          <a:ln/>
        </p:spPr>
        <p:txBody>
          <a:bodyPr wrap="square" lIns="0" tIns="0" rIns="0" bIns="0" rtlCol="0" anchor="ctr"/>
          <a:lstStyle/>
          <a:p>
            <a:pPr indent="0" marL="0">
              <a:lnSpc>
                <a:spcPts val="2100"/>
              </a:lnSpc>
              <a:buNone/>
            </a:pPr>
            <a:r>
              <a:rPr lang="en-US" sz="1600" b="1" dirty="0">
                <a:solidFill>
                  <a:srgbClr val="2FB98D"/>
                </a:solidFill>
                <a:latin typeface="Arial" pitchFamily="34" charset="0"/>
                <a:ea typeface="Arial" pitchFamily="34" charset="-122"/>
                <a:cs typeface="Arial" pitchFamily="34" charset="-120"/>
              </a:rPr>
              <a:t>Proving keys are ledger-portable</a:t>
            </a:r>
            <a:endParaRPr lang="en-US" sz="1600" dirty="0"/>
          </a:p>
        </p:txBody>
      </p:sp>
      <p:sp>
        <p:nvSpPr>
          <p:cNvPr id="11" name="Text 9"/>
          <p:cNvSpPr txBox="1"/>
          <p:nvPr/>
        </p:nvSpPr>
        <p:spPr>
          <a:xfrm>
            <a:off x="5212080" y="3364992"/>
            <a:ext cx="6035040" cy="1005840"/>
          </a:xfrm>
          <a:prstGeom prst="rect">
            <a:avLst/>
          </a:prstGeom>
          <a:noFill/>
          <a:ln/>
        </p:spPr>
        <p:txBody>
          <a:bodyPr wrap="square" lIns="0" tIns="0" rIns="0" bIns="0" rtlCol="0" anchor="ctr"/>
          <a:lstStyle/>
          <a:p>
            <a:pPr indent="0" marL="0">
              <a:lnSpc>
                <a:spcPts val="1800"/>
              </a:lnSpc>
              <a:buNone/>
            </a:pPr>
            <a:r>
              <a:rPr lang="en-US" sz="1300" dirty="0">
                <a:solidFill>
                  <a:srgbClr val="EEF2FA"/>
                </a:solidFill>
                <a:latin typeface="Calibri" pitchFamily="34" charset="0"/>
                <a:ea typeface="Calibri" pitchFamily="34" charset="-122"/>
                <a:cs typeface="Calibri" pitchFamily="34" charset="-120"/>
              </a:rPr>
              <a:t>The prover key, verifier key and ZKIR are byte identical across ledger 8 and ledger 9. Only the generated JavaScript differs, and only in being synchronous. The migration touched the ledger binding, not the proof system.</a:t>
            </a:r>
            <a:endParaRPr lang="en-US" sz="1300" dirty="0"/>
          </a:p>
        </p:txBody>
      </p:sp>
      <p:sp>
        <p:nvSpPr>
          <p:cNvPr id="12" name="Shape 10"/>
          <p:cNvSpPr/>
          <p:nvPr/>
        </p:nvSpPr>
        <p:spPr>
          <a:xfrm>
            <a:off x="640080" y="4663440"/>
            <a:ext cx="10881360" cy="1298448"/>
          </a:xfrm>
          <a:prstGeom prst="roundRect">
            <a:avLst>
              <a:gd name="adj" fmla="val 6338"/>
            </a:avLst>
          </a:prstGeom>
          <a:solidFill>
            <a:srgbClr val="182033"/>
          </a:solidFill>
          <a:ln w="12700">
            <a:solidFill>
              <a:srgbClr val="182033"/>
            </a:solidFill>
            <a:prstDash val="solid"/>
          </a:ln>
        </p:spPr>
      </p:sp>
      <p:sp>
        <p:nvSpPr>
          <p:cNvPr id="13" name="Shape 11"/>
          <p:cNvSpPr/>
          <p:nvPr/>
        </p:nvSpPr>
        <p:spPr>
          <a:xfrm>
            <a:off x="960120" y="5166360"/>
            <a:ext cx="201168" cy="201168"/>
          </a:xfrm>
          <a:prstGeom prst="ellipse">
            <a:avLst/>
          </a:prstGeom>
          <a:solidFill>
            <a:srgbClr val="7FA8E8"/>
          </a:solidFill>
          <a:ln w="12700">
            <a:solidFill>
              <a:srgbClr val="7FA8E8"/>
            </a:solidFill>
            <a:prstDash val="solid"/>
          </a:ln>
        </p:spPr>
      </p:sp>
      <p:sp>
        <p:nvSpPr>
          <p:cNvPr id="14" name="Text 12"/>
          <p:cNvSpPr txBox="1"/>
          <p:nvPr/>
        </p:nvSpPr>
        <p:spPr>
          <a:xfrm>
            <a:off x="1417320" y="4809744"/>
            <a:ext cx="3566160" cy="1005840"/>
          </a:xfrm>
          <a:prstGeom prst="rect">
            <a:avLst/>
          </a:prstGeom>
          <a:noFill/>
          <a:ln/>
        </p:spPr>
        <p:txBody>
          <a:bodyPr wrap="square" lIns="0" tIns="0" rIns="0" bIns="0" rtlCol="0" anchor="ctr"/>
          <a:lstStyle/>
          <a:p>
            <a:pPr indent="0" marL="0">
              <a:lnSpc>
                <a:spcPts val="2100"/>
              </a:lnSpc>
              <a:buNone/>
            </a:pPr>
            <a:r>
              <a:rPr lang="en-US" sz="1600" b="1" dirty="0">
                <a:solidFill>
                  <a:srgbClr val="7FA8E8"/>
                </a:solidFill>
                <a:latin typeface="Arial" pitchFamily="34" charset="0"/>
                <a:ea typeface="Arial" pitchFamily="34" charset="-122"/>
                <a:cs typeface="Arial" pitchFamily="34" charset="-120"/>
              </a:rPr>
              <a:t>First wallet sync costs about 350×</a:t>
            </a:r>
            <a:endParaRPr lang="en-US" sz="1600" dirty="0"/>
          </a:p>
        </p:txBody>
      </p:sp>
      <p:sp>
        <p:nvSpPr>
          <p:cNvPr id="15" name="Text 13"/>
          <p:cNvSpPr txBox="1"/>
          <p:nvPr/>
        </p:nvSpPr>
        <p:spPr>
          <a:xfrm>
            <a:off x="5212080" y="4828032"/>
            <a:ext cx="6035040" cy="1005840"/>
          </a:xfrm>
          <a:prstGeom prst="rect">
            <a:avLst/>
          </a:prstGeom>
          <a:noFill/>
          <a:ln/>
        </p:spPr>
        <p:txBody>
          <a:bodyPr wrap="square" lIns="0" tIns="0" rIns="0" bIns="0" rtlCol="0" anchor="ctr"/>
          <a:lstStyle/>
          <a:p>
            <a:pPr indent="0" marL="0">
              <a:lnSpc>
                <a:spcPts val="1800"/>
              </a:lnSpc>
              <a:buNone/>
            </a:pPr>
            <a:r>
              <a:rPr lang="en-US" sz="1300" dirty="0">
                <a:solidFill>
                  <a:srgbClr val="EEF2FA"/>
                </a:solidFill>
                <a:latin typeface="Calibri" pitchFamily="34" charset="0"/>
                <a:ea typeface="Calibri" pitchFamily="34" charset="-122"/>
                <a:cs typeface="Calibri" pitchFamily="34" charset="-120"/>
              </a:rPr>
              <a:t>Twenty seconds on a local chain. One hour fifty five, then two hours eleven, on Preprod. CPU bound across 2.29 million blocks. Sync state is held in memory only, so every process pays it in full. Batch your writes into one run.</a:t>
            </a:r>
            <a:endParaRPr lang="en-US" sz="1300" dirty="0"/>
          </a:p>
        </p:txBody>
      </p:sp>
      <p:sp>
        <p:nvSpPr>
          <p:cNvPr id="16" name="Text 14"/>
          <p:cNvSpPr txBox="1"/>
          <p:nvPr/>
        </p:nvSpPr>
        <p:spPr>
          <a:xfrm>
            <a:off x="640080" y="6172200"/>
            <a:ext cx="10881360" cy="365760"/>
          </a:xfrm>
          <a:prstGeom prst="rect">
            <a:avLst/>
          </a:prstGeom>
          <a:noFill/>
          <a:ln/>
        </p:spPr>
        <p:txBody>
          <a:bodyPr wrap="square" lIns="0" tIns="0" rIns="0" bIns="0" rtlCol="0" anchor="ctr"/>
          <a:lstStyle/>
          <a:p>
            <a:pPr indent="0" marL="0">
              <a:buNone/>
            </a:pPr>
            <a:r>
              <a:rPr lang="en-US" sz="1400" i="1" dirty="0">
                <a:solidFill>
                  <a:srgbClr val="7FA8E8"/>
                </a:solidFill>
                <a:latin typeface="Calibri" pitchFamily="34" charset="0"/>
                <a:ea typeface="Calibri" pitchFamily="34" charset="-122"/>
                <a:cs typeface="Calibri" pitchFamily="34" charset="-120"/>
              </a:rPr>
              <a:t>The sync measurement is why the front end never touches a wallet. Putting two hours in front of a judge before anything renders is indefensible.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220"/>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7FA8E8"/>
                </a:solidFill>
                <a:latin typeface="Calibri" pitchFamily="34" charset="0"/>
                <a:ea typeface="Calibri" pitchFamily="34" charset="-122"/>
                <a:cs typeface="Calibri" pitchFamily="34" charset="-120"/>
              </a:rPr>
              <a:t>HONEST LIMITS, AND WHAT IS NEXT</a:t>
            </a:r>
            <a:endParaRPr lang="en-US" sz="1200" dirty="0"/>
          </a:p>
        </p:txBody>
      </p:sp>
      <p:sp>
        <p:nvSpPr>
          <p:cNvPr id="3" name="Text 1"/>
          <p:cNvSpPr txBox="1"/>
          <p:nvPr/>
        </p:nvSpPr>
        <p:spPr>
          <a:xfrm>
            <a:off x="640080" y="548640"/>
            <a:ext cx="10881360" cy="960120"/>
          </a:xfrm>
          <a:prstGeom prst="rect">
            <a:avLst/>
          </a:prstGeom>
          <a:noFill/>
          <a:ln/>
        </p:spPr>
        <p:txBody>
          <a:bodyPr wrap="square" lIns="0" tIns="0" rIns="0" bIns="0" rtlCol="0" anchor="t"/>
          <a:lstStyle/>
          <a:p>
            <a:pPr algn="l" indent="0" marL="0">
              <a:buNone/>
            </a:pPr>
            <a:r>
              <a:rPr lang="en-US" sz="3400" b="1" dirty="0">
                <a:solidFill>
                  <a:srgbClr val="EEF2FA"/>
                </a:solidFill>
                <a:latin typeface="Arial" pitchFamily="34" charset="0"/>
                <a:ea typeface="Arial" pitchFamily="34" charset="-122"/>
                <a:cs typeface="Arial" pitchFamily="34" charset="-120"/>
              </a:rPr>
              <a:t>What this does not prove</a:t>
            </a:r>
            <a:endParaRPr lang="en-US" sz="3400" dirty="0"/>
          </a:p>
        </p:txBody>
      </p:sp>
      <p:sp>
        <p:nvSpPr>
          <p:cNvPr id="4" name="Shape 2"/>
          <p:cNvSpPr/>
          <p:nvPr/>
        </p:nvSpPr>
        <p:spPr>
          <a:xfrm>
            <a:off x="640080" y="1691640"/>
            <a:ext cx="10881360" cy="1920240"/>
          </a:xfrm>
          <a:prstGeom prst="roundRect">
            <a:avLst>
              <a:gd name="adj" fmla="val 4286"/>
            </a:avLst>
          </a:prstGeom>
          <a:solidFill>
            <a:srgbClr val="2A1E20"/>
          </a:solidFill>
          <a:ln w="12700">
            <a:solidFill>
              <a:srgbClr val="2A1E20"/>
            </a:solidFill>
            <a:prstDash val="solid"/>
          </a:ln>
        </p:spPr>
      </p:sp>
      <p:sp>
        <p:nvSpPr>
          <p:cNvPr id="5" name="Text 3"/>
          <p:cNvSpPr txBox="1"/>
          <p:nvPr/>
        </p:nvSpPr>
        <p:spPr>
          <a:xfrm>
            <a:off x="960120" y="1920240"/>
            <a:ext cx="10241280" cy="411480"/>
          </a:xfrm>
          <a:prstGeom prst="rect">
            <a:avLst/>
          </a:prstGeom>
          <a:noFill/>
          <a:ln/>
        </p:spPr>
        <p:txBody>
          <a:bodyPr wrap="square" lIns="0" tIns="0" rIns="0" bIns="0" rtlCol="0" anchor="ctr"/>
          <a:lstStyle/>
          <a:p>
            <a:pPr indent="0" marL="0">
              <a:buNone/>
            </a:pPr>
            <a:r>
              <a:rPr lang="en-US" sz="2200" b="1" dirty="0">
                <a:solidFill>
                  <a:srgbClr val="E4573D"/>
                </a:solidFill>
                <a:latin typeface="Arial" pitchFamily="34" charset="0"/>
                <a:ea typeface="Arial" pitchFamily="34" charset="-122"/>
                <a:cs typeface="Arial" pitchFamily="34" charset="-120"/>
              </a:rPr>
              <a:t>The prover still supplies their own book.</a:t>
            </a:r>
            <a:endParaRPr lang="en-US" sz="2200" dirty="0"/>
          </a:p>
        </p:txBody>
      </p:sp>
      <p:sp>
        <p:nvSpPr>
          <p:cNvPr id="6" name="Text 4"/>
          <p:cNvSpPr txBox="1"/>
          <p:nvPr/>
        </p:nvSpPr>
        <p:spPr>
          <a:xfrm>
            <a:off x="960120" y="2395728"/>
            <a:ext cx="10241280" cy="1051560"/>
          </a:xfrm>
          <a:prstGeom prst="rect">
            <a:avLst/>
          </a:prstGeom>
          <a:noFill/>
          <a:ln/>
        </p:spPr>
        <p:txBody>
          <a:bodyPr wrap="square" lIns="0" tIns="0" rIns="0" bIns="0" rtlCol="0" anchor="ctr"/>
          <a:lstStyle/>
          <a:p>
            <a:pPr indent="0" marL="0">
              <a:lnSpc>
                <a:spcPts val="2000"/>
              </a:lnSpc>
              <a:buNone/>
            </a:pPr>
            <a:r>
              <a:rPr lang="en-US" sz="1400" dirty="0">
                <a:solidFill>
                  <a:srgbClr val="EEF2FA"/>
                </a:solidFill>
                <a:latin typeface="Calibri" pitchFamily="34" charset="0"/>
                <a:ea typeface="Calibri" pitchFamily="34" charset="-122"/>
                <a:cs typeface="Calibri" pitchFamily="34" charset="-120"/>
              </a:rPr>
              <a:t>No zero knowledge system solves that, and datum does not claim to. What it does is bind the book to a commitment published every period, so a lie has to be maintained consistently and any single real event collapses the whole history at once: an audit, a redemption, a custodian confirmation. For pools whose positions are already on chain, the book binds directly and there is nothing left to lie about.</a:t>
            </a:r>
            <a:endParaRPr lang="en-US" sz="1400" dirty="0"/>
          </a:p>
        </p:txBody>
      </p:sp>
      <p:sp>
        <p:nvSpPr>
          <p:cNvPr id="7" name="Text 5"/>
          <p:cNvSpPr txBox="1"/>
          <p:nvPr/>
        </p:nvSpPr>
        <p:spPr>
          <a:xfrm>
            <a:off x="640080" y="3886200"/>
            <a:ext cx="10881360" cy="274320"/>
          </a:xfrm>
          <a:prstGeom prst="rect">
            <a:avLst/>
          </a:prstGeom>
          <a:noFill/>
          <a:ln/>
        </p:spPr>
        <p:txBody>
          <a:bodyPr wrap="square" lIns="0" tIns="0" rIns="0" bIns="0" rtlCol="0" anchor="ctr"/>
          <a:lstStyle/>
          <a:p>
            <a:pPr indent="0" marL="0">
              <a:buNone/>
            </a:pPr>
            <a:r>
              <a:rPr lang="en-US" sz="1100" b="1" spc="150" kern="0" dirty="0">
                <a:solidFill>
                  <a:srgbClr val="7FA8E8"/>
                </a:solidFill>
                <a:latin typeface="Calibri" pitchFamily="34" charset="0"/>
                <a:ea typeface="Calibri" pitchFamily="34" charset="-122"/>
                <a:cs typeface="Calibri" pitchFamily="34" charset="-120"/>
              </a:rPr>
              <a:t>WAVE 2 AND 3</a:t>
            </a:r>
            <a:endParaRPr lang="en-US" sz="1100" dirty="0"/>
          </a:p>
        </p:txBody>
      </p:sp>
      <p:sp>
        <p:nvSpPr>
          <p:cNvPr id="8" name="Shape 6"/>
          <p:cNvSpPr/>
          <p:nvPr/>
        </p:nvSpPr>
        <p:spPr>
          <a:xfrm>
            <a:off x="640080" y="4251960"/>
            <a:ext cx="3429000" cy="1417320"/>
          </a:xfrm>
          <a:prstGeom prst="roundRect">
            <a:avLst>
              <a:gd name="adj" fmla="val 5806"/>
            </a:avLst>
          </a:prstGeom>
          <a:solidFill>
            <a:srgbClr val="141B2B"/>
          </a:solidFill>
          <a:ln w="12700">
            <a:solidFill>
              <a:srgbClr val="141B2B"/>
            </a:solidFill>
            <a:prstDash val="solid"/>
          </a:ln>
        </p:spPr>
      </p:sp>
      <p:sp>
        <p:nvSpPr>
          <p:cNvPr id="9" name="Text 7"/>
          <p:cNvSpPr txBox="1"/>
          <p:nvPr/>
        </p:nvSpPr>
        <p:spPr>
          <a:xfrm>
            <a:off x="914400" y="4434840"/>
            <a:ext cx="2880360" cy="320040"/>
          </a:xfrm>
          <a:prstGeom prst="rect">
            <a:avLst/>
          </a:prstGeom>
          <a:noFill/>
          <a:ln/>
        </p:spPr>
        <p:txBody>
          <a:bodyPr wrap="square" lIns="0" tIns="0" rIns="0" bIns="0" rtlCol="0" anchor="ctr"/>
          <a:lstStyle/>
          <a:p>
            <a:pPr indent="0" marL="0">
              <a:buNone/>
            </a:pPr>
            <a:r>
              <a:rPr lang="en-US" sz="1600" b="1" dirty="0">
                <a:solidFill>
                  <a:srgbClr val="EEF2FA"/>
                </a:solidFill>
                <a:latin typeface="Arial" pitchFamily="34" charset="0"/>
                <a:ea typeface="Arial" pitchFamily="34" charset="-122"/>
                <a:cs typeface="Arial" pitchFamily="34" charset="-120"/>
              </a:rPr>
              <a:t>Real depth curves</a:t>
            </a:r>
            <a:endParaRPr lang="en-US" sz="1600" dirty="0"/>
          </a:p>
        </p:txBody>
      </p:sp>
      <p:sp>
        <p:nvSpPr>
          <p:cNvPr id="10" name="Text 8"/>
          <p:cNvSpPr txBox="1"/>
          <p:nvPr/>
        </p:nvSpPr>
        <p:spPr>
          <a:xfrm>
            <a:off x="914400" y="4800600"/>
            <a:ext cx="2880360" cy="777240"/>
          </a:xfrm>
          <a:prstGeom prst="rect">
            <a:avLst/>
          </a:prstGeom>
          <a:noFill/>
          <a:ln/>
        </p:spPr>
        <p:txBody>
          <a:bodyPr wrap="square" lIns="0" tIns="0" rIns="0" bIns="0" rtlCol="0" anchor="ctr"/>
          <a:lstStyle/>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Live venue reserves from collectors already running, replacing the fixed slot set.</a:t>
            </a:r>
            <a:endParaRPr lang="en-US" sz="1300" dirty="0"/>
          </a:p>
        </p:txBody>
      </p:sp>
      <p:sp>
        <p:nvSpPr>
          <p:cNvPr id="11" name="Shape 9"/>
          <p:cNvSpPr/>
          <p:nvPr/>
        </p:nvSpPr>
        <p:spPr>
          <a:xfrm>
            <a:off x="4343400" y="4251960"/>
            <a:ext cx="3429000" cy="1417320"/>
          </a:xfrm>
          <a:prstGeom prst="roundRect">
            <a:avLst>
              <a:gd name="adj" fmla="val 5806"/>
            </a:avLst>
          </a:prstGeom>
          <a:solidFill>
            <a:srgbClr val="141B2B"/>
          </a:solidFill>
          <a:ln w="12700">
            <a:solidFill>
              <a:srgbClr val="141B2B"/>
            </a:solidFill>
            <a:prstDash val="solid"/>
          </a:ln>
        </p:spPr>
      </p:sp>
      <p:sp>
        <p:nvSpPr>
          <p:cNvPr id="12" name="Text 10"/>
          <p:cNvSpPr txBox="1"/>
          <p:nvPr/>
        </p:nvSpPr>
        <p:spPr>
          <a:xfrm>
            <a:off x="4617720" y="4434840"/>
            <a:ext cx="2880360" cy="320040"/>
          </a:xfrm>
          <a:prstGeom prst="rect">
            <a:avLst/>
          </a:prstGeom>
          <a:noFill/>
          <a:ln/>
        </p:spPr>
        <p:txBody>
          <a:bodyPr wrap="square" lIns="0" tIns="0" rIns="0" bIns="0" rtlCol="0" anchor="ctr"/>
          <a:lstStyle/>
          <a:p>
            <a:pPr indent="0" marL="0">
              <a:buNone/>
            </a:pPr>
            <a:r>
              <a:rPr lang="en-US" sz="1600" b="1" dirty="0">
                <a:solidFill>
                  <a:srgbClr val="EEF2FA"/>
                </a:solidFill>
                <a:latin typeface="Arial" pitchFamily="34" charset="0"/>
                <a:ea typeface="Arial" pitchFamily="34" charset="-122"/>
                <a:cs typeface="Arial" pitchFamily="34" charset="-120"/>
              </a:rPr>
              <a:t>Real pools</a:t>
            </a:r>
            <a:endParaRPr lang="en-US" sz="1600" dirty="0"/>
          </a:p>
        </p:txBody>
      </p:sp>
      <p:sp>
        <p:nvSpPr>
          <p:cNvPr id="13" name="Text 11"/>
          <p:cNvSpPr txBox="1"/>
          <p:nvPr/>
        </p:nvSpPr>
        <p:spPr>
          <a:xfrm>
            <a:off x="4617720" y="4800600"/>
            <a:ext cx="2880360" cy="777240"/>
          </a:xfrm>
          <a:prstGeom prst="rect">
            <a:avLst/>
          </a:prstGeom>
          <a:noFill/>
          <a:ln/>
        </p:spPr>
        <p:txBody>
          <a:bodyPr wrap="square" lIns="0" tIns="0" rIns="0" bIns="0" rtlCol="0" anchor="ctr"/>
          <a:lstStyle/>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Attest an actual lending market rather than a constructed book.</a:t>
            </a:r>
            <a:endParaRPr lang="en-US" sz="1300" dirty="0"/>
          </a:p>
        </p:txBody>
      </p:sp>
      <p:sp>
        <p:nvSpPr>
          <p:cNvPr id="14" name="Shape 12"/>
          <p:cNvSpPr/>
          <p:nvPr/>
        </p:nvSpPr>
        <p:spPr>
          <a:xfrm>
            <a:off x="8046720" y="4251960"/>
            <a:ext cx="3429000" cy="1417320"/>
          </a:xfrm>
          <a:prstGeom prst="roundRect">
            <a:avLst>
              <a:gd name="adj" fmla="val 5806"/>
            </a:avLst>
          </a:prstGeom>
          <a:solidFill>
            <a:srgbClr val="141B2B"/>
          </a:solidFill>
          <a:ln w="12700">
            <a:solidFill>
              <a:srgbClr val="141B2B"/>
            </a:solidFill>
            <a:prstDash val="solid"/>
          </a:ln>
        </p:spPr>
      </p:sp>
      <p:sp>
        <p:nvSpPr>
          <p:cNvPr id="15" name="Text 13"/>
          <p:cNvSpPr txBox="1"/>
          <p:nvPr/>
        </p:nvSpPr>
        <p:spPr>
          <a:xfrm>
            <a:off x="8321040" y="4434840"/>
            <a:ext cx="2880360" cy="320040"/>
          </a:xfrm>
          <a:prstGeom prst="rect">
            <a:avLst/>
          </a:prstGeom>
          <a:noFill/>
          <a:ln/>
        </p:spPr>
        <p:txBody>
          <a:bodyPr wrap="square" lIns="0" tIns="0" rIns="0" bIns="0" rtlCol="0" anchor="ctr"/>
          <a:lstStyle/>
          <a:p>
            <a:pPr indent="0" marL="0">
              <a:buNone/>
            </a:pPr>
            <a:r>
              <a:rPr lang="en-US" sz="1600" b="1" dirty="0">
                <a:solidFill>
                  <a:srgbClr val="EEF2FA"/>
                </a:solidFill>
                <a:latin typeface="Arial" pitchFamily="34" charset="0"/>
                <a:ea typeface="Arial" pitchFamily="34" charset="-122"/>
                <a:cs typeface="Arial" pitchFamily="34" charset="-120"/>
              </a:rPr>
              <a:t>Multi venue</a:t>
            </a:r>
            <a:endParaRPr lang="en-US" sz="1600" dirty="0"/>
          </a:p>
        </p:txBody>
      </p:sp>
      <p:sp>
        <p:nvSpPr>
          <p:cNvPr id="16" name="Text 14"/>
          <p:cNvSpPr txBox="1"/>
          <p:nvPr/>
        </p:nvSpPr>
        <p:spPr>
          <a:xfrm>
            <a:off x="8321040" y="4800600"/>
            <a:ext cx="2880360" cy="777240"/>
          </a:xfrm>
          <a:prstGeom prst="rect">
            <a:avLst/>
          </a:prstGeom>
          <a:noFill/>
          <a:ln/>
        </p:spPr>
        <p:txBody>
          <a:bodyPr wrap="square" lIns="0" tIns="0" rIns="0" bIns="0" rtlCol="0" anchor="ctr"/>
          <a:lstStyle/>
          <a:p>
            <a:pPr indent="0" marL="0">
              <a:lnSpc>
                <a:spcPts val="1800"/>
              </a:lnSpc>
              <a:buNone/>
            </a:pPr>
            <a:r>
              <a:rPr lang="en-US" sz="1300" dirty="0">
                <a:solidFill>
                  <a:srgbClr val="8C9AB5"/>
                </a:solidFill>
                <a:latin typeface="Calibri" pitchFamily="34" charset="0"/>
                <a:ea typeface="Calibri" pitchFamily="34" charset="-122"/>
                <a:cs typeface="Calibri" pitchFamily="34" charset="-120"/>
              </a:rPr>
              <a:t>Route a single position across venues and prove the aggregate exit.</a:t>
            </a:r>
            <a:endParaRPr lang="en-US" sz="1300" dirty="0"/>
          </a:p>
        </p:txBody>
      </p:sp>
      <p:sp>
        <p:nvSpPr>
          <p:cNvPr id="17" name="Text 15"/>
          <p:cNvSpPr txBox="1"/>
          <p:nvPr/>
        </p:nvSpPr>
        <p:spPr>
          <a:xfrm>
            <a:off x="640080" y="6035040"/>
            <a:ext cx="10881360" cy="320040"/>
          </a:xfrm>
          <a:prstGeom prst="rect">
            <a:avLst/>
          </a:prstGeom>
          <a:noFill/>
          <a:ln/>
        </p:spPr>
        <p:txBody>
          <a:bodyPr wrap="square" lIns="0" tIns="0" rIns="0" bIns="0" rtlCol="0" anchor="ctr"/>
          <a:lstStyle/>
          <a:p>
            <a:pPr indent="0" marL="0">
              <a:buNone/>
            </a:pPr>
            <a:r>
              <a:rPr lang="en-US" sz="1300" dirty="0">
                <a:solidFill>
                  <a:srgbClr val="7FA8E8"/>
                </a:solidFill>
                <a:latin typeface="Courier New" pitchFamily="34" charset="0"/>
                <a:ea typeface="Courier New" pitchFamily="34" charset="-122"/>
                <a:cs typeface="Courier New" pitchFamily="34" charset="-120"/>
              </a:rPr>
              <a:t>datum.ochinimus.app     ·     github.com/seekdaseek/datum     ·     Apache-2.0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datum: Midnight Buildathon Wave 1</dc:title>
  <dc:subject>PptxGenJS Presentation</dc:subject>
  <dc:creator>ochinimus</dc:creator>
  <cp:lastModifiedBy>ochinimus</cp:lastModifiedBy>
  <cp:revision>1</cp:revision>
  <dcterms:created xsi:type="dcterms:W3CDTF">2026-08-28T06:38:47Z</dcterms:created>
  <dcterms:modified xsi:type="dcterms:W3CDTF">2026-08-28T06:38:47Z</dcterms:modified>
</cp:coreProperties>
</file>